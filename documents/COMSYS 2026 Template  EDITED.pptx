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85" r:id="rId3"/>
    <p:sldId id="286" r:id="rId4"/>
    <p:sldId id="306" r:id="rId5"/>
    <p:sldId id="299" r:id="rId6"/>
    <p:sldId id="302" r:id="rId7"/>
    <p:sldId id="287" r:id="rId8"/>
    <p:sldId id="300" r:id="rId9"/>
    <p:sldId id="288" r:id="rId10"/>
    <p:sldId id="289" r:id="rId11"/>
    <p:sldId id="290" r:id="rId12"/>
    <p:sldId id="291" r:id="rId13"/>
    <p:sldId id="292" r:id="rId14"/>
    <p:sldId id="303" r:id="rId15"/>
    <p:sldId id="304" r:id="rId16"/>
    <p:sldId id="305" r:id="rId17"/>
    <p:sldId id="293" r:id="rId18"/>
    <p:sldId id="294" r:id="rId19"/>
    <p:sldId id="295" r:id="rId20"/>
    <p:sldId id="296" r:id="rId21"/>
    <p:sldId id="297" r:id="rId22"/>
    <p:sldId id="301" r:id="rId23"/>
    <p:sldId id="29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83" autoAdjust="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875BF-5DF0-4572-B1F2-1126457A132F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87B0D-85E4-4FBF-98B2-027DF32A3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602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36D63-D373-DBB9-7DFC-D3412CE4A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DB26D8-A544-729D-BEEF-3E6AB399E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106B8-9EEB-6FC1-7690-54CB6B625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F1706-8640-4B16-8862-44DCE0102A9F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0A14D-D356-A769-DA49-BFD204F0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COMSYS 2023  3rd International on Conference on Fontiers in Computin and System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4631-EB88-C7DE-9ADE-E5EC0927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CA19-0269-42BF-9BCF-7FAB6B85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63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30607-458E-5640-20B3-318CB634A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82A82-3827-FB9B-BB18-406F6348F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AA501-679E-754F-8697-5BB835FA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AAEDA-EA14-487E-8AC6-B74F53C08EF9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A57B4-4506-27B8-4A2A-935191E7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COMSYS 2023  3rd International on Conference on Fontiers in Computin and System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1EEA-8B67-7069-801C-CAE48AC6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CA19-0269-42BF-9BCF-7FAB6B85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28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B6CA-5DC3-5D52-D371-C84DCFDA0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AEDB2-86EF-B891-265C-058F115B9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E519E-A96A-927D-8874-6BC0D0A2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25724-64C6-4D0A-95C3-5D0887BFAACB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7D2C1-2953-AD7F-D717-100E06DC2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COMSYS 2023  3rd International on Conference on Fontiers in Computin and System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22B55-8060-AC03-B007-02CCCE7F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CA19-0269-42BF-9BCF-7FAB6B85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62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89F3-6DF8-9D1B-688D-E5FC975AC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1FF28-9A63-32C0-53FE-D1719C0A6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53F70-3666-4E29-9161-ADFBDD390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EB760-E7D5-62A2-0630-B5E60FA9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87804-8E70-4E34-B6F7-58D0F8CFC0FE}" type="datetime1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8057B-789B-F34B-F4BB-2EB08B03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COMSYS 2023  3rd International on Conference on Fontiers in Computin and System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78B09-7991-A31E-0CDC-916CCE3D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CA19-0269-42BF-9BCF-7FAB6B85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73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01F96-3395-E27F-3C86-C71493E22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1AE91-0674-9000-0C33-FF6FBFC63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806C5-A919-E0A3-FF51-5CFF3E564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6A8BCA-94E7-A8DC-8146-36B4F07E2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CCFB0-732A-C0FB-69DB-22BB50FAC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2DB10-E375-897A-9BD1-706CB6C48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EC7A-FD16-4749-AA6A-D0623731E7EC}" type="datetime1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6A8D54-7E27-30B4-ECB7-06D3DD52B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COMSYS 2023  3rd International on Conference on Fontiers in Computin and System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A0024-2430-D85C-8C86-97534EA5C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CA19-0269-42BF-9BCF-7FAB6B85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18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8AFA0-C949-DCDB-6D03-2C01700E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A4E4A-9BD2-6FD4-6F2A-8B066827F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C31E-5E59-4E9C-8288-74146A0F8DB2}" type="datetime1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6758C-1A10-AA0C-017E-4772DCE6F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COMSYS 2023  3rd International on Conference on Fontiers in Computin and System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732CA-47B0-A82B-4893-AE77C2875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CA19-0269-42BF-9BCF-7FAB6B85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662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EA894-FB1C-57C6-9704-B6E9B8D4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AEDC-2D5C-4738-B1BC-4F33E73DBA33}" type="datetime1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EA3BC9-9835-52D5-4DA3-A80253EE6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COMSYS 2023  3rd International on Conference on Fontiers in Computin and System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8209A-6A81-EC26-0C59-14CAB839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CA19-0269-42BF-9BCF-7FAB6B85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27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1EA5-9440-569E-A2FF-DC2EA9F15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85A4B-D699-F125-9144-FDE9070C3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694BA-4F5F-7038-A476-A8B1D25D8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1910C-83CC-FECB-D7B0-2E2678E0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971B6-CE4F-4387-87E9-3FC6C915F4A8}" type="datetime1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202FD-3EEE-C32E-B9B0-4C07AC9C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COMSYS 2023  3rd International on Conference on Fontiers in Computin and System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460AA-EFD2-E13A-E03E-665586CC6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CA19-0269-42BF-9BCF-7FAB6B85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813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16320-5685-BD6F-3148-48337B8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25F392-870C-E195-E6CF-881DDBAFF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D301B-F94F-507C-2C44-C75EC79A1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34971-E657-1B4D-AF5A-22F34C1C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F44A8-A137-4CA4-999D-2F5C2EA3BA20}" type="datetime1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38663-AE9C-C2D9-B274-318C11151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COMSYS 2023  3rd International on Conference on Fontiers in Computin and System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EB1F2-3C26-2B65-5A98-49F7E1C26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CA19-0269-42BF-9BCF-7FAB6B85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487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209B-BB0B-FE7E-17B2-C6ADD325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27B24F-702B-7320-BEB3-520D1332E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FB93A-FA76-333E-EFAD-7856E287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D49-1822-4690-BDE7-F9C2EDDBA422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23CD5-79B9-2F95-10F0-30D5DFAE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COMSYS 2023  3rd International on Conference on Fontiers in Computin and System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A28B2-25F0-728F-B29E-558467F8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CA19-0269-42BF-9BCF-7FAB6B85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33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9F1A5F-AE92-688D-BA92-81E95C4B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17DDC-3B4E-D61C-45C5-86A8E9807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BAF90-BDD0-1F1C-3A7B-44E9896E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72EAE-BAD1-4A44-974E-0E4AB52610A9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0DBF7-3082-1E7B-4AFD-DA54BE9D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COMSYS 2023  3rd International on Conference on Fontiers in Computin and System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9A900-583C-C677-BC57-98BF8AFB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ACA19-0269-42BF-9BCF-7FAB6B85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766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BB0D8-FA9F-F7F1-4FC1-421792F2F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3419B-E8A8-407B-35CB-5451E5DC7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BE79E-8C82-6C0C-3F97-6CC1FB1D2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BC6D8-DEF8-4EE1-86C6-801A59438C76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1349C-D270-430E-82F9-6D5835386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COMSYS 2023  3rd International on Conference on Fontiers in Computin and System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383ED-6D31-A787-2E07-45B280DE2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ACA19-0269-42BF-9BCF-7FAB6B85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90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somadey05@gmail.com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7" y="36308"/>
            <a:ext cx="12156836" cy="5935427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DBC21A3-94A8-D5ED-9C1D-358CD418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413541A-3458-1A43-9905-77471E23C0FD}"/>
              </a:ext>
            </a:extLst>
          </p:cNvPr>
          <p:cNvSpPr txBox="1">
            <a:spLocks/>
          </p:cNvSpPr>
          <p:nvPr/>
        </p:nvSpPr>
        <p:spPr>
          <a:xfrm>
            <a:off x="817794" y="211978"/>
            <a:ext cx="10531876" cy="32272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AutoMeet</a:t>
            </a:r>
            <a:r>
              <a:rPr lang="en-US" sz="53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 Infinity: A Multimodal Hybrid Audio Meeting Summarization System</a:t>
            </a:r>
            <a:br>
              <a:rPr lang="en-IN" sz="3200" dirty="0">
                <a:solidFill>
                  <a:srgbClr val="FFC000"/>
                </a:solidFill>
              </a:rPr>
            </a:br>
            <a:r>
              <a:rPr lang="en-US" sz="3200" b="1" i="1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            		</a:t>
            </a:r>
          </a:p>
          <a:p>
            <a:pPr algn="ctr"/>
            <a:r>
              <a:rPr lang="en-US" sz="3200" b="1" i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(Paper id : 625) </a:t>
            </a:r>
          </a:p>
          <a:p>
            <a:pPr algn="ctr"/>
            <a:endParaRPr lang="en-US" sz="3200" dirty="0">
              <a:solidFill>
                <a:schemeClr val="bg1"/>
              </a:solidFill>
            </a:endParaRPr>
          </a:p>
          <a:p>
            <a:pPr algn="ctr"/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Soma Chatterjee, Sohini Paul, Souparna Paul, </a:t>
            </a:r>
            <a:r>
              <a:rPr lang="en-IN" b="1" dirty="0" err="1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Jaytanu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Kundu, Shantanu Adhikary, Arijit Halder, </a:t>
            </a:r>
            <a:r>
              <a:rPr lang="en-IN" b="1" dirty="0" err="1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Prithwi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Rudra</a:t>
            </a:r>
            <a:endParaRPr lang="en-US" sz="3200" b="1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C19A832-4E50-DBC3-D53E-4A76BFC5254A}"/>
              </a:ext>
            </a:extLst>
          </p:cNvPr>
          <p:cNvSpPr txBox="1">
            <a:spLocks/>
          </p:cNvSpPr>
          <p:nvPr/>
        </p:nvSpPr>
        <p:spPr>
          <a:xfrm>
            <a:off x="2368752" y="4002264"/>
            <a:ext cx="6979639" cy="140647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 i="1" dirty="0">
                <a:solidFill>
                  <a:schemeClr val="bg2"/>
                </a:solidFill>
              </a:rPr>
              <a:t>Presented By</a:t>
            </a:r>
          </a:p>
          <a:p>
            <a:pPr marL="0" indent="0" algn="ctr">
              <a:buNone/>
            </a:pPr>
            <a:r>
              <a:rPr lang="en-US" sz="7100" b="1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Souparna Paul</a:t>
            </a:r>
            <a:br>
              <a:rPr lang="en-US" sz="3200" b="1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100" b="1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Department of Computer Science and Engineering, Narula Institute of Technology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DBC21A3-94A8-D5ED-9C1D-358CD418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4620522-A6F7-8F4F-960F-C893DB297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Outline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8D5CD26-6C45-288D-7CDB-28824E4DF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Introduction</a:t>
            </a:r>
          </a:p>
          <a:p>
            <a:r>
              <a:rPr lang="en-US" dirty="0"/>
              <a:t>Literature Survey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Contribution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Result and Discussion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91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1123-C9D4-9214-0B14-345C8EA5A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EDCE69B-CCE7-876E-ADE7-F2C598DD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360AFD-26DC-A942-5984-1EF6DC322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C47A19-87C8-E4B2-7CEA-B1DD7EBCA7A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9E09513-5FB8-AD8E-23D2-D096F93A7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Understanding Meeting Summarization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88790C-3E28-0DF7-A82C-1A3B4CDA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What is Meeting Summarization?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US" dirty="0"/>
              <a:t>It is the process of automatically condensing a multi-party conversational transcript into a shorter version while retaining key information, decisions, and action items.</a:t>
            </a:r>
          </a:p>
          <a:p>
            <a:pPr lvl="1"/>
            <a:r>
              <a:rPr lang="en-US" b="1" dirty="0"/>
              <a:t>The Goal:</a:t>
            </a:r>
            <a:r>
              <a:rPr lang="en-US" dirty="0"/>
              <a:t> Transforming hours of unstructured audio/video dialogue into a concise, readable text format.</a:t>
            </a:r>
          </a:p>
          <a:p>
            <a:r>
              <a:rPr lang="en-US" b="1" dirty="0">
                <a:solidFill>
                  <a:srgbClr val="FF0000"/>
                </a:solidFill>
              </a:rPr>
              <a:t>Why is it Needed? </a:t>
            </a:r>
          </a:p>
          <a:p>
            <a:pPr lvl="1"/>
            <a:r>
              <a:rPr lang="en-US" b="1" dirty="0"/>
              <a:t>Information Overload:</a:t>
            </a:r>
            <a:r>
              <a:rPr lang="en-US" dirty="0"/>
              <a:t> A typical 1-hour meeting generates ~10,000 words. Manually reviewing this for insights is inefficient.</a:t>
            </a:r>
          </a:p>
          <a:p>
            <a:pPr lvl="1"/>
            <a:r>
              <a:rPr lang="en-US" b="1" dirty="0"/>
              <a:t>Enhanced Productivity:</a:t>
            </a:r>
            <a:r>
              <a:rPr lang="en-US" dirty="0"/>
              <a:t> Allows stakeholders who missed a session to catch up in minutes rather than hours.</a:t>
            </a:r>
          </a:p>
          <a:p>
            <a:pPr lvl="1"/>
            <a:r>
              <a:rPr lang="en-US" b="1" dirty="0"/>
              <a:t>Accountability:</a:t>
            </a:r>
            <a:r>
              <a:rPr lang="en-US" dirty="0"/>
              <a:t> Provides a definitive record of "Who," "What," and "When" regarding task assignments.</a:t>
            </a:r>
          </a:p>
          <a:p>
            <a:pPr lvl="1"/>
            <a:r>
              <a:rPr lang="en-US" b="1" dirty="0"/>
              <a:t>Knowledge Retrieval:</a:t>
            </a:r>
            <a:r>
              <a:rPr lang="en-US" dirty="0"/>
              <a:t> Converts transient speech into a permanent, searchable organizational asset.</a:t>
            </a:r>
          </a:p>
        </p:txBody>
      </p:sp>
    </p:spTree>
    <p:extLst>
      <p:ext uri="{BB962C8B-B14F-4D97-AF65-F5344CB8AC3E}">
        <p14:creationId xmlns:p14="http://schemas.microsoft.com/office/powerpoint/2010/main" val="63042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690C8-6DAD-56AE-4E5F-C4E57557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DA19A05-0514-F419-5A3B-39BC82ED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E0511F-9FD7-945C-7A63-6D5A209AE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F6EF4E-89C7-F8E8-7801-D3D8A84A216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0A09203-C50A-8CC0-C595-912A6B077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Introduction: The Current Landscape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42A38A0-E74D-901F-52DD-844A8EBCB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The Digital Surge:</a:t>
            </a:r>
            <a:r>
              <a:rPr lang="en-US" dirty="0"/>
              <a:t> Exponential growth in virtual conferencing (Zoom, Teams) has led to massive amounts of unstructured conversational data [2, 23].</a:t>
            </a:r>
          </a:p>
          <a:p>
            <a:r>
              <a:rPr lang="en-US" b="1" dirty="0"/>
              <a:t>The Challenge: </a:t>
            </a:r>
            <a:r>
              <a:rPr lang="en-US" dirty="0"/>
              <a:t>While we record more meetings than ever, our ability to synthesize them manually is declining due to time constraints and human subjectivity [2, 20]. Traditional note-taking fails to capture technical nuances [27].</a:t>
            </a:r>
          </a:p>
          <a:p>
            <a:r>
              <a:rPr lang="en-US" b="1" dirty="0"/>
              <a:t>Technical Hurdles: </a:t>
            </a:r>
            <a:r>
              <a:rPr lang="en-US" dirty="0"/>
              <a:t>Existing automated systems often fail due to:</a:t>
            </a:r>
          </a:p>
          <a:p>
            <a:pPr lvl="1"/>
            <a:r>
              <a:rPr lang="en-US" b="1" dirty="0"/>
              <a:t>Noisy Data:</a:t>
            </a:r>
            <a:r>
              <a:rPr lang="en-US" dirty="0"/>
              <a:t> Overlapping speech, background noise, and informal jargon.</a:t>
            </a:r>
          </a:p>
          <a:p>
            <a:pPr lvl="1"/>
            <a:r>
              <a:rPr lang="en-US" b="1" dirty="0"/>
              <a:t>Architecture Limits:</a:t>
            </a:r>
            <a:r>
              <a:rPr lang="en-US" dirty="0"/>
              <a:t> Standard Transformers cannot process long transcripts (the "Token Limit" problem) [5, 19].</a:t>
            </a:r>
          </a:p>
          <a:p>
            <a:pPr lvl="1"/>
            <a:r>
              <a:rPr lang="en-US" b="1" dirty="0"/>
              <a:t>Hallucinations:</a:t>
            </a:r>
            <a:r>
              <a:rPr lang="en-US" dirty="0"/>
              <a:t> Generative models often invent facts that were never discussed.</a:t>
            </a:r>
          </a:p>
          <a:p>
            <a:r>
              <a:rPr lang="en-US" b="1" dirty="0"/>
              <a:t>Solution: </a:t>
            </a:r>
            <a:r>
              <a:rPr lang="en-US" dirty="0"/>
              <a:t>A modular system designed to solve these hurdles using a hybrid pipeline of </a:t>
            </a:r>
            <a:r>
              <a:rPr lang="en-US" b="1" dirty="0"/>
              <a:t>Whisper</a:t>
            </a:r>
            <a:r>
              <a:rPr lang="en-US" dirty="0"/>
              <a:t> (ASR), </a:t>
            </a:r>
            <a:r>
              <a:rPr lang="en-US" b="1" dirty="0"/>
              <a:t>BERT</a:t>
            </a:r>
            <a:r>
              <a:rPr lang="en-US" dirty="0"/>
              <a:t> (Extraction), and </a:t>
            </a:r>
            <a:r>
              <a:rPr lang="en-US" b="1" dirty="0"/>
              <a:t>Pegasus</a:t>
            </a:r>
            <a:r>
              <a:rPr lang="en-US" dirty="0"/>
              <a:t> (Refinement) [18, 22, 25].</a:t>
            </a:r>
          </a:p>
        </p:txBody>
      </p:sp>
    </p:spTree>
    <p:extLst>
      <p:ext uri="{BB962C8B-B14F-4D97-AF65-F5344CB8AC3E}">
        <p14:creationId xmlns:p14="http://schemas.microsoft.com/office/powerpoint/2010/main" val="169296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F77AB-0D20-55D8-434B-EEF6943B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28D230-1AA7-AF79-B7EF-078EF6064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15695B-7C2B-F022-2E20-02A7D9F90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2F880A-672D-2A91-64C9-15BCC3B8838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CDBF347-F12D-3C31-5BB2-5FCDDA2DA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Literature Survey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036CE3-7920-09CB-487A-FA11952D2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4779" y="1582344"/>
            <a:ext cx="4039661" cy="3956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800" b="1" dirty="0"/>
              <a:t>Key Insights from Survey: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The "Context Wall":</a:t>
            </a:r>
            <a:r>
              <a:rPr lang="en-US" dirty="0"/>
              <a:t> Most current models fail when meeting transcripts exceed 1024 tokens.</a:t>
            </a:r>
          </a:p>
          <a:p>
            <a:r>
              <a:rPr lang="en-US" b="1" dirty="0"/>
              <a:t>The Modality Gap: </a:t>
            </a:r>
            <a:r>
              <a:rPr lang="en-US" dirty="0"/>
              <a:t>Most research focuses on text-to-text; few systems integrate high-accuracy ASR (like Whisper) directly into a hybrid summarization pipeline.</a:t>
            </a:r>
          </a:p>
          <a:p>
            <a:r>
              <a:rPr lang="en-US" b="1" dirty="0"/>
              <a:t>Factual Drift: </a:t>
            </a:r>
            <a:r>
              <a:rPr lang="en-US" dirty="0"/>
              <a:t>Purely abstractive models often lose technical details crucial in corporate/technical meetings.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2D88EB-81E1-F649-577E-27E64E07D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412066"/>
              </p:ext>
            </p:extLst>
          </p:nvPr>
        </p:nvGraphicFramePr>
        <p:xfrm>
          <a:off x="678840" y="1334168"/>
          <a:ext cx="6475936" cy="4114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8984">
                  <a:extLst>
                    <a:ext uri="{9D8B030D-6E8A-4147-A177-3AD203B41FA5}">
                      <a16:colId xmlns:a16="http://schemas.microsoft.com/office/drawing/2014/main" val="911197249"/>
                    </a:ext>
                  </a:extLst>
                </a:gridCol>
                <a:gridCol w="1618984">
                  <a:extLst>
                    <a:ext uri="{9D8B030D-6E8A-4147-A177-3AD203B41FA5}">
                      <a16:colId xmlns:a16="http://schemas.microsoft.com/office/drawing/2014/main" val="3588373490"/>
                    </a:ext>
                  </a:extLst>
                </a:gridCol>
                <a:gridCol w="1618984">
                  <a:extLst>
                    <a:ext uri="{9D8B030D-6E8A-4147-A177-3AD203B41FA5}">
                      <a16:colId xmlns:a16="http://schemas.microsoft.com/office/drawing/2014/main" val="931090999"/>
                    </a:ext>
                  </a:extLst>
                </a:gridCol>
                <a:gridCol w="1618984">
                  <a:extLst>
                    <a:ext uri="{9D8B030D-6E8A-4147-A177-3AD203B41FA5}">
                      <a16:colId xmlns:a16="http://schemas.microsoft.com/office/drawing/2014/main" val="1946834218"/>
                    </a:ext>
                  </a:extLst>
                </a:gridCol>
              </a:tblGrid>
              <a:tr h="553925">
                <a:tc>
                  <a:txBody>
                    <a:bodyPr/>
                    <a:lstStyle/>
                    <a:p>
                      <a:r>
                        <a:rPr lang="en-US" sz="1600" dirty="0"/>
                        <a:t>Research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Key Works / 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Core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8501"/>
                  </a:ext>
                </a:extLst>
              </a:tr>
              <a:tr h="791322">
                <a:tc>
                  <a:txBody>
                    <a:bodyPr/>
                    <a:lstStyle/>
                    <a:p>
                      <a:r>
                        <a:rPr lang="en-US" sz="1600" b="1" dirty="0"/>
                        <a:t>Traditional Extractive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TextRank, </a:t>
                      </a:r>
                      <a:r>
                        <a:rPr lang="en-US" sz="1600" b="1" dirty="0" err="1"/>
                        <a:t>LexRank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Graph-based ranking of sentences.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Lacks linguistic flow; ignores context.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49935"/>
                  </a:ext>
                </a:extLst>
              </a:tr>
              <a:tr h="791322">
                <a:tc>
                  <a:txBody>
                    <a:bodyPr/>
                    <a:lstStyle/>
                    <a:p>
                      <a:r>
                        <a:rPr lang="en-US" sz="1600" b="1" dirty="0"/>
                        <a:t>Pure Abstractive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600" b="1" dirty="0"/>
                        <a:t>BART (Lewis et al.), T5 (Raffel et al.)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Encoder-Decoder Transformers.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 risk of "hallucinations" (fictional facts).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9470"/>
                  </a:ext>
                </a:extLst>
              </a:tr>
              <a:tr h="1028719">
                <a:tc>
                  <a:txBody>
                    <a:bodyPr/>
                    <a:lstStyle/>
                    <a:p>
                      <a:r>
                        <a:rPr lang="en-US" sz="1600" b="1" dirty="0"/>
                        <a:t>Long-Form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Longformer (</a:t>
                      </a:r>
                      <a:r>
                        <a:rPr lang="en-US" sz="1600" b="1" dirty="0" err="1"/>
                        <a:t>Beltagy</a:t>
                      </a:r>
                      <a:r>
                        <a:rPr lang="en-US" sz="1600" b="1" dirty="0"/>
                        <a:t>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Sparse attention mechanisms.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 computational cost for very long meetings.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650850"/>
                  </a:ext>
                </a:extLst>
              </a:tr>
              <a:tr h="791322">
                <a:tc>
                  <a:txBody>
                    <a:bodyPr/>
                    <a:lstStyle/>
                    <a:p>
                      <a:r>
                        <a:rPr lang="en-US" sz="1600" b="1" dirty="0"/>
                        <a:t>Hybrid SOTA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MatchSum</a:t>
                      </a:r>
                      <a:r>
                        <a:rPr lang="en-US" sz="1600" b="1" dirty="0"/>
                        <a:t> (Zhong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Semantic matching of summaries.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Struggles with raw audio noise and accents.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09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B5EC-FE8E-387E-07D0-F64E3555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493484B-0A6B-0312-DA6E-291A90584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EBC76A-A10A-0821-1CCD-B1759C74A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367E44-EF5E-3386-22AE-43C6B0E1245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B0499CB-4C48-73A4-C58B-1C095F40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Literature Survey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6A0D40F-60B1-A89F-EA50-2F886CC13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41" y="1582344"/>
            <a:ext cx="10515600" cy="3956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Evolution:</a:t>
            </a:r>
            <a:r>
              <a:rPr lang="en-US" dirty="0"/>
              <a:t> Summarization moved from statistical methods to deep learning paradigms [2, 3, 30].</a:t>
            </a:r>
          </a:p>
          <a:p>
            <a:r>
              <a:rPr lang="en-US" b="1" dirty="0"/>
              <a:t>Contextual Embeddings: </a:t>
            </a:r>
            <a:r>
              <a:rPr lang="en-US" dirty="0"/>
              <a:t>Transformers [8] and BERT [9] revolutionized the field. Recent studies optimize BERT via mean pooling and freezing strategies [11, 12].</a:t>
            </a:r>
          </a:p>
          <a:p>
            <a:r>
              <a:rPr lang="en-US" b="1" dirty="0"/>
              <a:t>Abstractive Models: </a:t>
            </a:r>
            <a:r>
              <a:rPr lang="en-US" dirty="0"/>
              <a:t>Pegasus is highly effective due to its Gap-Sentence Generation (GSG) pre-training objective [25].</a:t>
            </a:r>
          </a:p>
          <a:p>
            <a:r>
              <a:rPr lang="en-US" b="1" dirty="0"/>
              <a:t>Multimodal Shift: </a:t>
            </a:r>
            <a:r>
              <a:rPr lang="en-US" dirty="0"/>
              <a:t>Integration of Whisper [18] allows systems to handle noisy real-world audio, a major step up from text-only models [13, 16, 17].</a:t>
            </a:r>
          </a:p>
        </p:txBody>
      </p:sp>
    </p:spTree>
    <p:extLst>
      <p:ext uri="{BB962C8B-B14F-4D97-AF65-F5344CB8AC3E}">
        <p14:creationId xmlns:p14="http://schemas.microsoft.com/office/powerpoint/2010/main" val="280088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25C9F-267F-C8CB-0EC7-76B7ECFA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3295336-85E3-FC9C-3613-6F11B8DA9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CCAEAD-4224-2E00-2874-24E4C3FB9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1B400A-ACEF-2C18-2DB4-9B6CD3EA933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8916AF7-7A2E-2132-9AF6-B3DCEF5D8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Identifying the Gap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5711BF6-DDFF-E711-14AF-E72953524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Existing Limitation 1: </a:t>
            </a:r>
            <a:r>
              <a:rPr lang="en-US" dirty="0"/>
              <a:t>Inability to handle "infinite" input lengths without losing the beginning or end of the conversation (The "Lost in the Middle" problem).</a:t>
            </a:r>
          </a:p>
          <a:p>
            <a:r>
              <a:rPr lang="en-US" b="1" dirty="0"/>
              <a:t>Existing Limitation 2: </a:t>
            </a:r>
            <a:r>
              <a:rPr lang="en-US" dirty="0"/>
              <a:t>High word error rates (WER) in standard ASR systems when dealing with diverse accents or noisy environments.</a:t>
            </a:r>
          </a:p>
          <a:p>
            <a:r>
              <a:rPr lang="en-US" b="1" dirty="0"/>
              <a:t>Our Solution (</a:t>
            </a:r>
            <a:r>
              <a:rPr lang="en-US" b="1" dirty="0" err="1"/>
              <a:t>AutoMeet</a:t>
            </a:r>
            <a:r>
              <a:rPr lang="en-US" b="1" dirty="0"/>
              <a:t>++ Infinity): </a:t>
            </a:r>
            <a:r>
              <a:rPr lang="en-US" dirty="0"/>
              <a:t>Bridges these gaps by combining </a:t>
            </a:r>
            <a:r>
              <a:rPr lang="en-US" b="1" dirty="0"/>
              <a:t>Whisper’s robust ASR</a:t>
            </a:r>
            <a:r>
              <a:rPr lang="en-US" dirty="0"/>
              <a:t>, </a:t>
            </a:r>
            <a:r>
              <a:rPr lang="en-US" b="1" dirty="0"/>
              <a:t>Semantic Windowing</a:t>
            </a:r>
            <a:r>
              <a:rPr lang="en-US" dirty="0"/>
              <a:t> for infinite length, and a </a:t>
            </a:r>
            <a:r>
              <a:rPr lang="en-US" b="1" dirty="0"/>
              <a:t>Hybrid BERT-Pegasus pipeline</a:t>
            </a:r>
            <a:r>
              <a:rPr lang="en-US" dirty="0"/>
              <a:t> to ensure both factual grounding and human-like flow.</a:t>
            </a:r>
          </a:p>
        </p:txBody>
      </p:sp>
    </p:spTree>
    <p:extLst>
      <p:ext uri="{BB962C8B-B14F-4D97-AF65-F5344CB8AC3E}">
        <p14:creationId xmlns:p14="http://schemas.microsoft.com/office/powerpoint/2010/main" val="240795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4EE5C-59FD-8A73-4E7E-17AB759D8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446AE-52AE-7BAF-4AB8-B972212D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A10D33-5C96-5A54-14C2-A200EF587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660733-16E3-C18A-2934-D0921ECAC9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8067832-7A96-5F30-CF75-DD89E9EFA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Motivation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37F698-B5FB-D9AE-48E0-45F477A24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Noisy Transcripts: </a:t>
            </a:r>
            <a:r>
              <a:rPr lang="en-US" dirty="0"/>
              <a:t>Real-world meetings contain filler words, overlapping speech, and informal jargon.</a:t>
            </a:r>
          </a:p>
          <a:p>
            <a:r>
              <a:rPr lang="en-US" b="1" dirty="0"/>
              <a:t>Token Limits: </a:t>
            </a:r>
            <a:r>
              <a:rPr lang="en-US" dirty="0"/>
              <a:t>Most Transformer models (like BERT/Pegasus) struggle with long transcripts due to fixed input limits (512–1024 tokens).</a:t>
            </a:r>
          </a:p>
          <a:p>
            <a:r>
              <a:rPr lang="en-US" b="1" dirty="0"/>
              <a:t>The "Hallucination" Risk: </a:t>
            </a:r>
            <a:r>
              <a:rPr lang="en-US" dirty="0"/>
              <a:t>Purely abstractive models often "invent" facts; purely extractive models lack flow.</a:t>
            </a:r>
          </a:p>
          <a:p>
            <a:r>
              <a:rPr lang="en-US" b="1" dirty="0"/>
              <a:t>Multimodal Need: </a:t>
            </a:r>
            <a:r>
              <a:rPr lang="en-US" dirty="0"/>
              <a:t>Requirement for a system that handles Text, Audio, and Video seamlessly.</a:t>
            </a:r>
          </a:p>
        </p:txBody>
      </p:sp>
    </p:spTree>
    <p:extLst>
      <p:ext uri="{BB962C8B-B14F-4D97-AF65-F5344CB8AC3E}">
        <p14:creationId xmlns:p14="http://schemas.microsoft.com/office/powerpoint/2010/main" val="342217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F65E5-9C24-93FF-8A64-0FAB93282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5F7665F-0CA3-173B-B584-89B780377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470C3D-C2F9-86D8-3E36-6755D0A20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955496-1300-AA8E-B5E1-94F05DF3D25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3DEA6E4-E0AA-E330-ABE9-265DC69BB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Contribution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F7A4977-1195-B49B-F6F9-91A206E6C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Hybrid Architecture: </a:t>
            </a:r>
            <a:r>
              <a:rPr lang="en-US" dirty="0"/>
              <a:t>Combines BERT (Extractive) for factual grounding and Pegasus (Abstractive) for linguistic fluency.</a:t>
            </a:r>
          </a:p>
          <a:p>
            <a:r>
              <a:rPr lang="en-US" b="1" dirty="0"/>
              <a:t>Whisper Integration: </a:t>
            </a:r>
            <a:r>
              <a:rPr lang="en-US" dirty="0"/>
              <a:t>Robust Automatic Speech Recognition (ASR) to handle various accents and background noise.</a:t>
            </a:r>
          </a:p>
          <a:p>
            <a:r>
              <a:rPr lang="en-US" b="1" dirty="0"/>
              <a:t>Infinity Chunking: </a:t>
            </a:r>
            <a:r>
              <a:rPr lang="en-US" dirty="0"/>
              <a:t>A novel overlapping window approach to bypass token limits, allowing the summarization of meetings of "infinite" length.</a:t>
            </a:r>
          </a:p>
          <a:p>
            <a:r>
              <a:rPr lang="en-US" b="1" dirty="0"/>
              <a:t>Factual Fidelity: </a:t>
            </a:r>
            <a:r>
              <a:rPr lang="en-US" dirty="0"/>
              <a:t>Maintains a high semantic alignment.</a:t>
            </a:r>
          </a:p>
        </p:txBody>
      </p:sp>
    </p:spTree>
    <p:extLst>
      <p:ext uri="{BB962C8B-B14F-4D97-AF65-F5344CB8AC3E}">
        <p14:creationId xmlns:p14="http://schemas.microsoft.com/office/powerpoint/2010/main" val="294172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D54E-7D3B-AEA8-67AE-7A99307BD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1911884-1BDA-2390-249C-DA271477A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50D66-5DE5-A78E-8216-FC85FBE3A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7D9DDF-BA7B-84F5-6003-64964468056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6FA7849-A6BE-78FA-5627-E29C90876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4800" b="1" dirty="0"/>
              <a:t>Methodology: Data Processing &amp; </a:t>
            </a:r>
            <a:br>
              <a:rPr lang="en-IN" sz="4800" b="1" dirty="0"/>
            </a:br>
            <a:r>
              <a:rPr lang="en-IN" sz="4800" b="1" dirty="0"/>
              <a:t>ASR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B35B081-3739-D35B-8060-4EECA1F39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6" y="1582344"/>
            <a:ext cx="7427071" cy="3956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Multimodal Input Handling: </a:t>
            </a:r>
            <a:r>
              <a:rPr lang="en-US" dirty="0"/>
              <a:t>Supports raw audio (MP3/WAV), video (MP4), and structured text (CSV/TXT) [18].</a:t>
            </a:r>
          </a:p>
          <a:p>
            <a:r>
              <a:rPr lang="en-US" b="1" dirty="0"/>
              <a:t>High-Fidelity Transcription (OpenAI Whisper): </a:t>
            </a:r>
          </a:p>
          <a:p>
            <a:pPr lvl="1"/>
            <a:r>
              <a:rPr lang="pt-BR" dirty="0"/>
              <a:t>Utilizes a </a:t>
            </a:r>
            <a:r>
              <a:rPr lang="pt-BR" b="1" dirty="0"/>
              <a:t>Transformer-based ASR</a:t>
            </a:r>
            <a:r>
              <a:rPr lang="pt-BR" dirty="0"/>
              <a:t> model.</a:t>
            </a:r>
          </a:p>
          <a:p>
            <a:pPr lvl="1"/>
            <a:r>
              <a:rPr lang="en-US" dirty="0"/>
              <a:t>Chosen for its robustness against "Real-world" noise (accents, background chatter, and technical jargon).</a:t>
            </a:r>
          </a:p>
          <a:p>
            <a:r>
              <a:rPr lang="en-US" b="1" dirty="0"/>
              <a:t>Feature Extraction: </a:t>
            </a:r>
            <a:endParaRPr lang="en-US" dirty="0"/>
          </a:p>
          <a:p>
            <a:pPr lvl="1"/>
            <a:r>
              <a:rPr lang="en-US" dirty="0"/>
              <a:t>Audio is converted into log-Mel spectrograms.</a:t>
            </a:r>
          </a:p>
          <a:p>
            <a:pPr lvl="1"/>
            <a:r>
              <a:rPr lang="en-US" dirty="0"/>
              <a:t>Encoder-Decoder architecture maps audio features to a sequence of tokens, effectively handling the "noisy" nature of spontaneous conversation.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2B886-E471-A13D-D57B-11D8BDA74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818" y="686039"/>
            <a:ext cx="3448050" cy="506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4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9AEFC-2420-84CF-43ED-DB349349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0D810A3-E6EB-CE92-CD98-4FF52F1D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ED6F63-2E8D-A2DA-8601-B513F34DF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DCE5D3-A39C-94EB-B47F-96E1AA13379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2515EDE-55A0-5517-4BE5-3A0424898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Methodology: Semantic Chunking &amp; </a:t>
            </a:r>
            <a:br>
              <a:rPr lang="en-US" sz="4800" b="1" dirty="0"/>
            </a:br>
            <a:r>
              <a:rPr lang="en-US" sz="4800" b="1" dirty="0"/>
              <a:t>Hybrid Model</a:t>
            </a:r>
            <a:endParaRPr lang="en-IN" sz="48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7F7A969-E60B-9C05-CD34-EC76583CC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6" y="1582344"/>
            <a:ext cx="7427071" cy="417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Infinity Semantic Chunking:</a:t>
            </a:r>
          </a:p>
          <a:p>
            <a:pPr lvl="1"/>
            <a:r>
              <a:rPr lang="pt-BR" sz="1600" b="1" dirty="0"/>
              <a:t>Problem:</a:t>
            </a:r>
            <a:r>
              <a:rPr lang="pt-BR" sz="1600" dirty="0"/>
              <a:t> Standard Transformers have a 512–1024 token limit.</a:t>
            </a:r>
          </a:p>
          <a:p>
            <a:pPr lvl="1"/>
            <a:r>
              <a:rPr lang="en-US" sz="1600" b="1" dirty="0"/>
              <a:t>Solution:</a:t>
            </a:r>
            <a:r>
              <a:rPr lang="en-US" sz="1600" dirty="0"/>
              <a:t> Implemented </a:t>
            </a:r>
            <a:r>
              <a:rPr lang="en-US" sz="1600" b="1" dirty="0"/>
              <a:t>Overlapping Windowing</a:t>
            </a:r>
            <a:r>
              <a:rPr lang="en-US" sz="1600" dirty="0"/>
              <a:t>. We split transcripts into chunks with a 10-20% overlap to ensure no context is lost at the "seams" of the chunks [15, 16, 20]. </a:t>
            </a:r>
          </a:p>
          <a:p>
            <a:r>
              <a:rPr lang="en-US" sz="1600" b="1" dirty="0"/>
              <a:t>Extractive Layer (BERT): </a:t>
            </a:r>
            <a:endParaRPr lang="en-US" sz="1600" dirty="0"/>
          </a:p>
          <a:p>
            <a:pPr lvl="1"/>
            <a:r>
              <a:rPr lang="en-US" sz="1600" dirty="0"/>
              <a:t>Uses </a:t>
            </a:r>
            <a:r>
              <a:rPr lang="en-US" sz="1600" b="1" dirty="0"/>
              <a:t>Mean Pooling</a:t>
            </a:r>
            <a:r>
              <a:rPr lang="en-US" sz="1600" dirty="0"/>
              <a:t> of hidden states to generate sentence embeddings.</a:t>
            </a:r>
          </a:p>
          <a:p>
            <a:pPr lvl="1"/>
            <a:r>
              <a:rPr lang="en-US" sz="1600" dirty="0"/>
              <a:t>Calculates </a:t>
            </a:r>
            <a:r>
              <a:rPr lang="en-US" sz="1600" b="1" dirty="0"/>
              <a:t>Cosine Similarity</a:t>
            </a:r>
            <a:r>
              <a:rPr lang="en-US" sz="1600" dirty="0"/>
              <a:t> to identify "Centrality"—the most informative sentences are kept, while filler words and "small talk" are discarded [22].</a:t>
            </a:r>
          </a:p>
          <a:p>
            <a:r>
              <a:rPr lang="en-US" sz="1600" b="1" dirty="0"/>
              <a:t>Abstractive Refinement (Pegasus):</a:t>
            </a:r>
            <a:endParaRPr lang="en-US" sz="1600" dirty="0"/>
          </a:p>
          <a:p>
            <a:pPr lvl="1"/>
            <a:r>
              <a:rPr lang="en-US" sz="1600" dirty="0"/>
              <a:t>The extracted "key sentences" are fed into Pegasus.</a:t>
            </a:r>
          </a:p>
          <a:p>
            <a:pPr lvl="1"/>
            <a:r>
              <a:rPr lang="en-US" sz="1600" dirty="0"/>
              <a:t>Uses </a:t>
            </a:r>
            <a:r>
              <a:rPr lang="en-US" sz="1600" b="1" dirty="0"/>
              <a:t>Gap-sentence Generation (GSG)</a:t>
            </a:r>
            <a:r>
              <a:rPr lang="en-US" sz="1600" dirty="0"/>
              <a:t> pre-training logic to rewrite technical points into a cohesive, human-readable summary [8,25].</a:t>
            </a:r>
          </a:p>
          <a:p>
            <a:r>
              <a:rPr lang="en-US" sz="1600" b="1" dirty="0"/>
              <a:t>Fusion Logic: </a:t>
            </a:r>
            <a:endParaRPr lang="en-US" sz="1600" dirty="0"/>
          </a:p>
          <a:p>
            <a:pPr lvl="1"/>
            <a:r>
              <a:rPr lang="en-US" sz="1600" dirty="0"/>
              <a:t>The final output is a result of </a:t>
            </a:r>
            <a:r>
              <a:rPr lang="en-US" sz="1600" b="1" dirty="0"/>
              <a:t>Sequential Refinement</a:t>
            </a:r>
            <a:r>
              <a:rPr lang="en-US" sz="1600" dirty="0"/>
              <a:t> (Raw </a:t>
            </a: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dirty="0"/>
              <a:t>Extracted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Abstracted).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E5AED-46AC-FB3E-664F-3BD39E246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818" y="686039"/>
            <a:ext cx="3448050" cy="506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3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6B130-D2CF-5EFB-7EBE-FB6F8888B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3E1491A-C4A1-D94F-98E6-D2497FEE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560100-2D52-AD50-3DC3-19A804361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AFF5B5-1056-E070-CD29-EA78E9C54CE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C0CCC78-4460-5A27-9923-BD4EA8C0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The Hybrid Pipeline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1E3FE27-7FE1-82FC-FD22-CDB7E494F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5139253" cy="395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Extractive (BERT): </a:t>
            </a:r>
            <a:endParaRPr lang="en-US" dirty="0"/>
          </a:p>
          <a:p>
            <a:pPr lvl="1"/>
            <a:r>
              <a:rPr lang="en-US" dirty="0"/>
              <a:t>Acts as a "Content Filter.“</a:t>
            </a:r>
          </a:p>
          <a:p>
            <a:pPr lvl="1"/>
            <a:r>
              <a:rPr lang="en-US" dirty="0"/>
              <a:t>Uses Mean Pooling &amp; Cosine Similarity.</a:t>
            </a:r>
          </a:p>
          <a:p>
            <a:pPr lvl="1"/>
            <a:r>
              <a:rPr lang="en-US" dirty="0"/>
              <a:t>Ranks sentences based on centrality to the meeting context.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A91843-F1A4-50CD-8D29-8E54E9B169F6}"/>
              </a:ext>
            </a:extLst>
          </p:cNvPr>
          <p:cNvSpPr txBox="1">
            <a:spLocks/>
          </p:cNvSpPr>
          <p:nvPr/>
        </p:nvSpPr>
        <p:spPr>
          <a:xfrm>
            <a:off x="6373906" y="1582344"/>
            <a:ext cx="5139253" cy="395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Abstractive (Pegasus): </a:t>
            </a:r>
            <a:endParaRPr lang="en-US" dirty="0"/>
          </a:p>
          <a:p>
            <a:pPr lvl="1"/>
            <a:r>
              <a:rPr lang="en-US" dirty="0"/>
              <a:t>Acts as a "Refinement Engine.“</a:t>
            </a:r>
          </a:p>
          <a:p>
            <a:pPr lvl="1"/>
            <a:r>
              <a:rPr lang="en-US" dirty="0"/>
              <a:t>Uses Beam Search &amp; Length Penalties.</a:t>
            </a:r>
          </a:p>
          <a:p>
            <a:pPr lvl="1"/>
            <a:r>
              <a:rPr lang="en-US" dirty="0"/>
              <a:t>Generates coherent, human-like summaries from the extractive output.</a:t>
            </a:r>
          </a:p>
        </p:txBody>
      </p:sp>
    </p:spTree>
    <p:extLst>
      <p:ext uri="{BB962C8B-B14F-4D97-AF65-F5344CB8AC3E}">
        <p14:creationId xmlns:p14="http://schemas.microsoft.com/office/powerpoint/2010/main" val="310405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AF7E6-010A-6F2D-D193-EAF022B4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3810F0E-B379-272E-3D96-79EF61E3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373A9E-DF7A-02ED-FBF0-FF7F263E6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D9530-BEEA-FF50-4F42-5AC9F363C18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11BDEB-EC1B-8694-1C60-065C4B95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Dataset &amp; Experimentation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E4F7F3F-4CC5-A0E8-A780-20C56F6D4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Dataset: </a:t>
            </a:r>
            <a:r>
              <a:rPr lang="en-US" dirty="0"/>
              <a:t>Meta Kaggle Meeting Transcripts (Data Science discussions) [1].</a:t>
            </a:r>
          </a:p>
          <a:p>
            <a:r>
              <a:rPr lang="en-US" b="1" dirty="0"/>
              <a:t>Sample Size: </a:t>
            </a:r>
            <a:r>
              <a:rPr lang="en-US" dirty="0"/>
              <a:t>5,891 samples utilized for training/fine-tuning.</a:t>
            </a:r>
          </a:p>
          <a:p>
            <a:r>
              <a:rPr lang="en-US" b="1" dirty="0"/>
              <a:t>Test Set: </a:t>
            </a:r>
            <a:r>
              <a:rPr lang="en-US" dirty="0"/>
              <a:t>50 manually curated samples with ground-truth extractive and abstractive references.</a:t>
            </a:r>
          </a:p>
          <a:p>
            <a:r>
              <a:rPr lang="en-US" b="1" dirty="0"/>
              <a:t>Hardware: </a:t>
            </a:r>
            <a:r>
              <a:rPr lang="en-US" dirty="0"/>
              <a:t>GPU-accelerated processing via </a:t>
            </a:r>
            <a:r>
              <a:rPr lang="en-US" dirty="0" err="1"/>
              <a:t>PyTorch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92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EDC8-0C70-5329-58FB-542C044C7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96266-B644-20CF-5DC8-73ACF4C4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03AF3-823D-26F4-CB98-AB713FC4EF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D888C2-272B-7409-8E17-5C2FEF8418D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49FCB0-BAE1-1FB2-AFEE-0AB9B52D2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Results – Extractive Evaluation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345A669-DA60-9703-F27D-B54412985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Table 1: Extractive Model Performance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Table 2: Semantic Metrics (Extractive)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05CE2B-3951-4C41-E20F-B1B42B5DD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72784"/>
              </p:ext>
            </p:extLst>
          </p:nvPr>
        </p:nvGraphicFramePr>
        <p:xfrm>
          <a:off x="1486388" y="2077288"/>
          <a:ext cx="7191058" cy="15161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5058">
                  <a:extLst>
                    <a:ext uri="{9D8B030D-6E8A-4147-A177-3AD203B41FA5}">
                      <a16:colId xmlns:a16="http://schemas.microsoft.com/office/drawing/2014/main" val="36277362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015447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819447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08494213"/>
                    </a:ext>
                  </a:extLst>
                </a:gridCol>
              </a:tblGrid>
              <a:tr h="379036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834253"/>
                  </a:ext>
                </a:extLst>
              </a:tr>
              <a:tr h="379036">
                <a:tc>
                  <a:txBody>
                    <a:bodyPr/>
                    <a:lstStyle/>
                    <a:p>
                      <a:r>
                        <a:rPr lang="en-US" dirty="0"/>
                        <a:t>ROUGE-1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446305"/>
                  </a:ext>
                </a:extLst>
              </a:tr>
              <a:tr h="379036">
                <a:tc>
                  <a:txBody>
                    <a:bodyPr/>
                    <a:lstStyle/>
                    <a:p>
                      <a:r>
                        <a:rPr lang="en-US" dirty="0"/>
                        <a:t>ROUGE-2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742651"/>
                  </a:ext>
                </a:extLst>
              </a:tr>
              <a:tr h="379036">
                <a:tc>
                  <a:txBody>
                    <a:bodyPr/>
                    <a:lstStyle/>
                    <a:p>
                      <a:r>
                        <a:rPr lang="en-US" dirty="0"/>
                        <a:t>ROUGE-L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70064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0E8AB2-E853-936D-F966-B60A30DD3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396725"/>
              </p:ext>
            </p:extLst>
          </p:nvPr>
        </p:nvGraphicFramePr>
        <p:xfrm>
          <a:off x="1486389" y="4329952"/>
          <a:ext cx="8128000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4195433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39050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62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METEOR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8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BERTScore (F1)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770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87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B27B-FC54-85AD-ED3E-0CFF8959F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659B0D9-996A-2B65-AC7B-E2ED6324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EA1732-6741-9F51-6A10-C72985037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6955FB-943A-8F48-DFFD-709F4D1A42F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32F167C-8A39-CB55-CD80-08BCDBBBC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Results – Abstractive &amp; Hybrid Evaluation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DB2935-DDCD-CADC-30BE-60FF0F0A9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Table 3: Abstractive Model Performance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Table 4: Final Semantic and Linguistic Metrics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3472FB-D9F0-A486-D35A-69E917C6C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412264"/>
              </p:ext>
            </p:extLst>
          </p:nvPr>
        </p:nvGraphicFramePr>
        <p:xfrm>
          <a:off x="1486388" y="2077288"/>
          <a:ext cx="7191058" cy="15161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5058">
                  <a:extLst>
                    <a:ext uri="{9D8B030D-6E8A-4147-A177-3AD203B41FA5}">
                      <a16:colId xmlns:a16="http://schemas.microsoft.com/office/drawing/2014/main" val="36277362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015447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819447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08494213"/>
                    </a:ext>
                  </a:extLst>
                </a:gridCol>
              </a:tblGrid>
              <a:tr h="379036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834253"/>
                  </a:ext>
                </a:extLst>
              </a:tr>
              <a:tr h="379036">
                <a:tc>
                  <a:txBody>
                    <a:bodyPr/>
                    <a:lstStyle/>
                    <a:p>
                      <a:r>
                        <a:rPr lang="en-US" dirty="0"/>
                        <a:t>ROUGE-1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446305"/>
                  </a:ext>
                </a:extLst>
              </a:tr>
              <a:tr h="379036">
                <a:tc>
                  <a:txBody>
                    <a:bodyPr/>
                    <a:lstStyle/>
                    <a:p>
                      <a:r>
                        <a:rPr lang="en-US" dirty="0"/>
                        <a:t>ROUGE-2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0.1432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742651"/>
                  </a:ext>
                </a:extLst>
              </a:tr>
              <a:tr h="379036">
                <a:tc>
                  <a:txBody>
                    <a:bodyPr/>
                    <a:lstStyle/>
                    <a:p>
                      <a:r>
                        <a:rPr lang="en-US" dirty="0"/>
                        <a:t>ROUGE-L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0.2651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70064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666DBA-B0F0-CB53-AC8A-0E7EDF3A9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100061"/>
              </p:ext>
            </p:extLst>
          </p:nvPr>
        </p:nvGraphicFramePr>
        <p:xfrm>
          <a:off x="1486389" y="4329952"/>
          <a:ext cx="8128000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4195433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39050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62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METEOR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8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BERTScore (F1)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770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496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9943-D41C-9D2E-5A79-E7CBE60F8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7D6676C-9B11-A5FA-01AE-DCA825F7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19D227-BC92-639F-E426-C5676009F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59E98D-5975-CD7D-6600-F2C89CACA5E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13B447-FB3C-80C0-DB52-F156E8653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Comparative Accuracy Analysis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DEABE3-A51A-094F-ECA5-96F80B370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415528"/>
            <a:ext cx="10237694" cy="4123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Table 5: Extractive Comparison (ROUGE-L F1)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b="1" dirty="0"/>
              <a:t>Table 6: Hybrid/Abstractive Comparison (ROUGE-L F1)</a:t>
            </a:r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endParaRPr lang="en-US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15E53F-23F0-9C14-B4A9-733DF52FD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74215"/>
              </p:ext>
            </p:extLst>
          </p:nvPr>
        </p:nvGraphicFramePr>
        <p:xfrm>
          <a:off x="1486389" y="4101860"/>
          <a:ext cx="8128000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4195433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39050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62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AutoMeet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++ (Fine-tuned Pegasus)</a:t>
                      </a: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0.2651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8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FLAN-T5-Large (Latest)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0.2492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770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BART-Large (Recent)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0.2412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148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Pegasus-Base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0.2253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485505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AC6626-B74E-A741-FD6A-C1FF05A35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221003"/>
              </p:ext>
            </p:extLst>
          </p:nvPr>
        </p:nvGraphicFramePr>
        <p:xfrm>
          <a:off x="1486389" y="1822973"/>
          <a:ext cx="7860722" cy="1676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30361">
                  <a:extLst>
                    <a:ext uri="{9D8B030D-6E8A-4147-A177-3AD203B41FA5}">
                      <a16:colId xmlns:a16="http://schemas.microsoft.com/office/drawing/2014/main" val="4141954337"/>
                    </a:ext>
                  </a:extLst>
                </a:gridCol>
                <a:gridCol w="3930361">
                  <a:extLst>
                    <a:ext uri="{9D8B030D-6E8A-4147-A177-3AD203B41FA5}">
                      <a16:colId xmlns:a16="http://schemas.microsoft.com/office/drawing/2014/main" val="1539050243"/>
                    </a:ext>
                  </a:extLst>
                </a:gridCol>
              </a:tblGrid>
              <a:tr h="309105">
                <a:tc>
                  <a:txBody>
                    <a:bodyPr/>
                    <a:lstStyle/>
                    <a:p>
                      <a:r>
                        <a:rPr lang="en-US" sz="16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626176"/>
                  </a:ext>
                </a:extLst>
              </a:tr>
              <a:tr h="309105">
                <a:tc>
                  <a:txBody>
                    <a:bodyPr/>
                    <a:lstStyle/>
                    <a:p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AutoMeet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++ (Proposed)</a:t>
                      </a: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0.7457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87278"/>
                  </a:ext>
                </a:extLst>
              </a:tr>
              <a:tr h="309105">
                <a:tc>
                  <a:txBody>
                    <a:bodyPr/>
                    <a:lstStyle/>
                    <a:p>
                      <a:r>
                        <a:rPr lang="en-US" sz="1600" dirty="0" err="1"/>
                        <a:t>MatchSum</a:t>
                      </a:r>
                      <a:r>
                        <a:rPr lang="en-US" sz="1600" dirty="0"/>
                        <a:t> (Latest)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0.7159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770630"/>
                  </a:ext>
                </a:extLst>
              </a:tr>
              <a:tr h="309105">
                <a:tc>
                  <a:txBody>
                    <a:bodyPr/>
                    <a:lstStyle/>
                    <a:p>
                      <a:r>
                        <a:rPr lang="en-US" sz="1600" dirty="0"/>
                        <a:t>TextRank (Recent)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0.2537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797817"/>
                  </a:ext>
                </a:extLst>
              </a:tr>
              <a:tr h="309105">
                <a:tc>
                  <a:txBody>
                    <a:bodyPr/>
                    <a:lstStyle/>
                    <a:p>
                      <a:r>
                        <a:rPr lang="en-US" sz="1600" dirty="0"/>
                        <a:t>Lead-100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0.2349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817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810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194C1-D18A-1EF5-47C6-67B7CAC5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E541770-EB18-ACD3-301C-C8CB942F0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EFF14E-3DA9-FC40-CE0C-B3B2B459A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74FB50-3CE1-B703-F659-49ECFCFF9AA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9440AD0-8231-CA69-932D-681DB731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Performance Evaluation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3A286EA-9AA0-F015-4B31-EDD17ED0C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 Extractive F1-Score (ROUGE-L): </a:t>
            </a:r>
            <a:r>
              <a:rPr lang="en-US" dirty="0"/>
              <a:t>0.7457 (High retention of facts).</a:t>
            </a:r>
          </a:p>
          <a:p>
            <a:r>
              <a:rPr lang="en-US" b="1" dirty="0"/>
              <a:t>Abstractive F1-Score (ROUGE-1):</a:t>
            </a:r>
            <a:r>
              <a:rPr lang="en-US" dirty="0"/>
              <a:t> 0.3360.</a:t>
            </a:r>
          </a:p>
          <a:p>
            <a:r>
              <a:rPr lang="en-US" b="1" dirty="0"/>
              <a:t>Semantic Integrity (BERTScore):</a:t>
            </a:r>
            <a:r>
              <a:rPr lang="en-US" dirty="0"/>
              <a:t> </a:t>
            </a:r>
            <a:r>
              <a:rPr lang="en-US" b="1" dirty="0"/>
              <a:t>0.8590</a:t>
            </a:r>
            <a:r>
              <a:rPr lang="en-US" dirty="0"/>
              <a:t> (Indicates very high contextual similarity to human summaries).</a:t>
            </a:r>
          </a:p>
          <a:p>
            <a:r>
              <a:rPr lang="en-US" b="1" dirty="0"/>
              <a:t>METEOR Score:</a:t>
            </a:r>
            <a:r>
              <a:rPr lang="en-US" dirty="0"/>
              <a:t> 0.2909.</a:t>
            </a:r>
          </a:p>
        </p:txBody>
      </p:sp>
    </p:spTree>
    <p:extLst>
      <p:ext uri="{BB962C8B-B14F-4D97-AF65-F5344CB8AC3E}">
        <p14:creationId xmlns:p14="http://schemas.microsoft.com/office/powerpoint/2010/main" val="42044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71B58-18AC-285C-2D45-23DF8D174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F00C0D2-D7E7-2655-1242-57A6EDD8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>
                <a:solidFill>
                  <a:schemeClr val="tx1"/>
                </a:solidFill>
              </a:rPr>
              <a:t>7</a:t>
            </a:r>
            <a:r>
              <a:rPr lang="en-US" sz="2000" b="1" baseline="30000">
                <a:solidFill>
                  <a:schemeClr val="tx1"/>
                </a:solidFill>
              </a:rPr>
              <a:t>th</a:t>
            </a:r>
            <a:r>
              <a:rPr lang="en-US" sz="2000" b="1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80D068-DDDC-F45E-0ADA-9F393E736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9FD6DC-546A-AD30-871C-2FA0D573A70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E8D522F-1308-D824-7205-E81522F03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Comparative Analysis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438009-4850-54B1-FBD4-54DFBB9CA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8336" y="1582344"/>
            <a:ext cx="3975745" cy="3956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 Key Takeaways: </a:t>
            </a:r>
          </a:p>
          <a:p>
            <a:pPr lvl="1"/>
            <a:r>
              <a:rPr lang="en-US" dirty="0"/>
              <a:t>Outperforms </a:t>
            </a:r>
            <a:r>
              <a:rPr lang="en-US" b="1" dirty="0" err="1"/>
              <a:t>MatchSum</a:t>
            </a:r>
            <a:r>
              <a:rPr lang="en-US" dirty="0"/>
              <a:t> (Latest) in extractive accuracy.</a:t>
            </a:r>
          </a:p>
          <a:p>
            <a:pPr lvl="1"/>
            <a:r>
              <a:rPr lang="en-US" dirty="0"/>
              <a:t>Superior to </a:t>
            </a:r>
            <a:r>
              <a:rPr lang="en-US" b="1" dirty="0"/>
              <a:t>FLAN-T5-Large</a:t>
            </a:r>
            <a:r>
              <a:rPr lang="en-US" dirty="0"/>
              <a:t> and </a:t>
            </a:r>
            <a:r>
              <a:rPr lang="en-US" b="1" dirty="0"/>
              <a:t>BART-Large</a:t>
            </a:r>
            <a:r>
              <a:rPr lang="en-US" dirty="0"/>
              <a:t> in abstractive fluency.</a:t>
            </a:r>
          </a:p>
          <a:p>
            <a:pPr lvl="1"/>
            <a:r>
              <a:rPr lang="en-US" dirty="0"/>
              <a:t>Significant improvement over traditional baselines like </a:t>
            </a:r>
            <a:r>
              <a:rPr lang="en-US" b="1" dirty="0"/>
              <a:t>TextRank</a:t>
            </a:r>
            <a:r>
              <a:rPr lang="en-US" dirty="0"/>
              <a:t> and </a:t>
            </a:r>
            <a:r>
              <a:rPr lang="en-US" b="1" dirty="0"/>
              <a:t>Lead-100</a:t>
            </a:r>
            <a:r>
              <a:rPr lang="en-US"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2295CF-D037-9A05-3A39-F282959B4B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00" y="1582344"/>
            <a:ext cx="7326421" cy="319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7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EC28-C25F-1172-4185-65D8CB3D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08DA580-542E-FF98-757E-8F4594887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D02943-3A67-DD30-1E2D-1C0427C38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E52679-5252-ACD6-2286-BB491358CBC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E943798-19F7-7904-BF38-9EEB3F322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Scalability &amp; Discussion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14D279-5CDA-0015-6D9B-E92C2AB0F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Unlimited Length:</a:t>
            </a:r>
            <a:r>
              <a:rPr lang="en-US" dirty="0"/>
              <a:t> Overlapping chunking ensures the system doesn't crash on long board meetings.</a:t>
            </a:r>
          </a:p>
          <a:p>
            <a:r>
              <a:rPr lang="en-US" b="1" dirty="0"/>
              <a:t>Domain Generalization:</a:t>
            </a:r>
            <a:r>
              <a:rPr lang="en-US" dirty="0"/>
              <a:t> Successfully handles technical data science jargon and informal community chat.</a:t>
            </a:r>
          </a:p>
          <a:p>
            <a:r>
              <a:rPr lang="en-US" b="1" dirty="0"/>
              <a:t>Efficiency:</a:t>
            </a:r>
            <a:r>
              <a:rPr lang="en-US" dirty="0"/>
              <a:t> Uses model distillation techniques (Whisper Base) to balance speed and accuracy.</a:t>
            </a:r>
          </a:p>
        </p:txBody>
      </p:sp>
    </p:spTree>
    <p:extLst>
      <p:ext uri="{BB962C8B-B14F-4D97-AF65-F5344CB8AC3E}">
        <p14:creationId xmlns:p14="http://schemas.microsoft.com/office/powerpoint/2010/main" val="419068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7358-1050-E705-9BB0-52833C96A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13F2DF5-4219-ABB4-C203-3AA73E535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B25744-BED0-A472-58BE-954B6E19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4421CF-5E2B-CF8C-32E5-57158186861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C3E8156-B5C7-CB14-30B4-C97D142E1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Conclusion &amp; Future Work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FED2FC-363A-4BAA-A83B-BCE5A6CD9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Conclusion: </a:t>
            </a:r>
            <a:r>
              <a:rPr lang="en-US" dirty="0" err="1"/>
              <a:t>AutoMeet</a:t>
            </a:r>
            <a:r>
              <a:rPr lang="en-US" dirty="0"/>
              <a:t>++ Infinity successfully bridges the gap between raw audio and high-quality summaries using a hybrid approach.</a:t>
            </a:r>
          </a:p>
          <a:p>
            <a:r>
              <a:rPr lang="en-US" b="1" dirty="0"/>
              <a:t>Future Work:</a:t>
            </a:r>
          </a:p>
          <a:p>
            <a:pPr lvl="1"/>
            <a:r>
              <a:rPr lang="en-US" dirty="0"/>
              <a:t>Real-time deployment for live meeting captions and summaries.</a:t>
            </a:r>
          </a:p>
          <a:p>
            <a:pPr lvl="1"/>
            <a:r>
              <a:rPr lang="en-US" dirty="0"/>
              <a:t>Model quantization for use on low-resource mobile devices.</a:t>
            </a:r>
          </a:p>
          <a:p>
            <a:pPr lvl="1"/>
            <a:r>
              <a:rPr lang="en-US" dirty="0"/>
              <a:t>Speaker </a:t>
            </a:r>
            <a:r>
              <a:rPr lang="en-US" dirty="0" err="1"/>
              <a:t>diarization</a:t>
            </a:r>
            <a:r>
              <a:rPr lang="en-US" dirty="0"/>
              <a:t> (identifying </a:t>
            </a:r>
            <a:r>
              <a:rPr lang="en-US" b="1" dirty="0"/>
              <a:t>who</a:t>
            </a:r>
            <a:r>
              <a:rPr lang="en-US" dirty="0"/>
              <a:t> said </a:t>
            </a:r>
            <a:r>
              <a:rPr lang="en-US" b="1" dirty="0"/>
              <a:t>what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069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ABE9-6360-2519-89A9-EBB791A8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F0FFB76-982B-35A8-0A7B-C4802E0D4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52FA98-D446-5E3E-EF3F-6D03686C3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B3B1F7-FADE-5588-B025-B9E95B737E6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6A4522A-4EBE-B636-5225-AF23E6D06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References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FE961C7-704B-89C1-2A82-13AAABC94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[1] Kowald, D., et al. "Using the Open Meta Kaggle Dataset," 2019.  </a:t>
            </a:r>
          </a:p>
          <a:p>
            <a:pPr marL="0" indent="0">
              <a:buNone/>
            </a:pPr>
            <a:r>
              <a:rPr lang="en-US" b="1" dirty="0"/>
              <a:t>[2] Zhang, H., et al. "A Systematic Survey of Text Summarization," 2025.  </a:t>
            </a:r>
          </a:p>
          <a:p>
            <a:pPr marL="0" indent="0">
              <a:buNone/>
            </a:pPr>
            <a:r>
              <a:rPr lang="en-US" b="1" dirty="0"/>
              <a:t>[3] Azam, M., et al. "Current Trends in Extractive Text Summarization," 2025.  </a:t>
            </a:r>
          </a:p>
          <a:p>
            <a:pPr marL="0" indent="0">
              <a:buNone/>
            </a:pPr>
            <a:r>
              <a:rPr lang="en-US" b="1" dirty="0"/>
              <a:t>[4] </a:t>
            </a:r>
            <a:r>
              <a:rPr lang="en-US" b="1" dirty="0" err="1"/>
              <a:t>Giarelis</a:t>
            </a:r>
            <a:r>
              <a:rPr lang="en-US" b="1" dirty="0"/>
              <a:t>, N., et al. "Abstractive vs. Extractive Summarization," 2023.  </a:t>
            </a:r>
          </a:p>
          <a:p>
            <a:pPr marL="0" indent="0">
              <a:buNone/>
            </a:pPr>
            <a:r>
              <a:rPr lang="en-US" b="1" dirty="0"/>
              <a:t>[5] Zhang, M., et al. "Survey of Abstractive Text Summarization," 2022.  </a:t>
            </a:r>
          </a:p>
          <a:p>
            <a:pPr marL="0" indent="0">
              <a:buNone/>
            </a:pPr>
            <a:r>
              <a:rPr lang="en-US" b="1" dirty="0"/>
              <a:t>[6] Gulati, V., et al. "Extractive Article Summarization using TextRank," 2023.  </a:t>
            </a:r>
          </a:p>
          <a:p>
            <a:pPr marL="0" indent="0">
              <a:buNone/>
            </a:pPr>
            <a:r>
              <a:rPr lang="en-US" b="1" dirty="0"/>
              <a:t>[7] Yulianti, E., et al. "Enhanced TextRank using weighted word embedding," 2023.  </a:t>
            </a:r>
          </a:p>
          <a:p>
            <a:pPr marL="0" indent="0">
              <a:buNone/>
            </a:pPr>
            <a:r>
              <a:rPr lang="en-US" b="1" dirty="0"/>
              <a:t>[8] Vaswani, A., et al. "Attention Is All You Need," 2017.  </a:t>
            </a:r>
          </a:p>
          <a:p>
            <a:pPr marL="0" indent="0">
              <a:buNone/>
            </a:pPr>
            <a:r>
              <a:rPr lang="en-US" b="1" dirty="0"/>
              <a:t>[9] Devlin, J., et al. "BERT: Pre-training of Deep Bidirectional Transformers," 2019.  </a:t>
            </a:r>
          </a:p>
          <a:p>
            <a:pPr marL="0" indent="0">
              <a:buNone/>
            </a:pPr>
            <a:r>
              <a:rPr lang="en-US" b="1" dirty="0"/>
              <a:t>[10] Jiang, T., et al. "</a:t>
            </a:r>
            <a:r>
              <a:rPr lang="en-US" b="1" dirty="0" err="1"/>
              <a:t>PromptBERT</a:t>
            </a:r>
            <a:r>
              <a:rPr lang="en-US" b="1" dirty="0"/>
              <a:t>: Improving BERT Sentence Embeddings," 2022.  </a:t>
            </a:r>
          </a:p>
          <a:p>
            <a:pPr marL="0" indent="0">
              <a:buNone/>
            </a:pPr>
            <a:r>
              <a:rPr lang="en-US" b="1" dirty="0"/>
              <a:t>[11] Galal, O., et al. "Rethinking of BERT sentence embedding," 2024.  </a:t>
            </a:r>
          </a:p>
          <a:p>
            <a:pPr marL="0" indent="0">
              <a:buNone/>
            </a:pPr>
            <a:r>
              <a:rPr lang="en-US" b="1" dirty="0"/>
              <a:t>[12] Stankevičius, L., et al. "Extracting Sentence Embeddings from Transformers," 2024.  </a:t>
            </a:r>
          </a:p>
          <a:p>
            <a:pPr marL="0" indent="0">
              <a:buNone/>
            </a:pPr>
            <a:r>
              <a:rPr lang="en-US" b="1" dirty="0"/>
              <a:t>[13] Mogul, N., et al. "Summarizing Team Meetings," 2022.  </a:t>
            </a:r>
          </a:p>
          <a:p>
            <a:pPr marL="0" indent="0">
              <a:buNone/>
            </a:pPr>
            <a:r>
              <a:rPr lang="en-US" b="1" dirty="0"/>
              <a:t>[14] Prasanna Kumar, L., et al. "Meeting Summarization: A Survey," 2022.  </a:t>
            </a:r>
          </a:p>
          <a:p>
            <a:pPr marL="0" indent="0">
              <a:buNone/>
            </a:pPr>
            <a:r>
              <a:rPr lang="en-US" b="1" dirty="0"/>
              <a:t>[15] Rennard, V., et al. "Abstractive Meeting Summarization: A Survey," 2023.  </a:t>
            </a:r>
          </a:p>
          <a:p>
            <a:pPr marL="0" indent="0">
              <a:buNone/>
            </a:pPr>
            <a:r>
              <a:rPr lang="en-US" b="1" dirty="0"/>
              <a:t>[16] Laskar, M.T.R., et al. "Building Real-World Meeting Summarization Systems," 2023.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25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D2A21-22D9-5CEA-B302-D802A35A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472C7DF-0CD5-66DB-CF31-C2812116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302" y="5971735"/>
            <a:ext cx="8498541" cy="7778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COMSYS 2026 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7</a:t>
            </a:r>
            <a:r>
              <a:rPr lang="en-US" sz="2000" b="1" baseline="30000" dirty="0">
                <a:solidFill>
                  <a:schemeClr val="tx1"/>
                </a:solidFill>
              </a:rPr>
              <a:t>th</a:t>
            </a:r>
            <a:r>
              <a:rPr lang="en-US" sz="2000" b="1" dirty="0">
                <a:solidFill>
                  <a:schemeClr val="tx1"/>
                </a:solidFill>
              </a:rPr>
              <a:t> International on Conference on Frontiers in Computing and System 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360378-0E01-FABC-519B-4C88EAF7B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516" y="5971735"/>
            <a:ext cx="1017376" cy="843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50B74C-1D72-F10C-D7A3-5089E47B0B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0" y="6020212"/>
            <a:ext cx="1337189" cy="7466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D9F4321-A7AF-4F03-80EB-C6356A24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1" y="25678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References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D6B986-B0C0-7942-A511-4CBC6E329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47" y="1582344"/>
            <a:ext cx="10237694" cy="3956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[17] Agrawal, P., et al. "Speech-to-Text Conversion and Text Summarization," 2024.  </a:t>
            </a:r>
          </a:p>
          <a:p>
            <a:pPr marL="0" indent="0">
              <a:buNone/>
            </a:pPr>
            <a:r>
              <a:rPr lang="en-US" b="1" dirty="0"/>
              <a:t>[18] Wilkey, M., et al. "Transcription of Audio and Video with OpenAI's Whisper," 2026.  </a:t>
            </a:r>
          </a:p>
          <a:p>
            <a:pPr marL="0" indent="0">
              <a:buNone/>
            </a:pPr>
            <a:r>
              <a:rPr lang="en-US" b="1" dirty="0"/>
              <a:t>[19] Kirstein, F., et al. "CADS: Literature Review on Abstractive Dialogue Summarization," 2025.  </a:t>
            </a:r>
          </a:p>
          <a:p>
            <a:pPr marL="0" indent="0">
              <a:buNone/>
            </a:pPr>
            <a:r>
              <a:rPr lang="en-US" b="1" dirty="0"/>
              <a:t>[20] Hu, Y., et al. "</a:t>
            </a:r>
            <a:r>
              <a:rPr lang="en-US" b="1" dirty="0" err="1"/>
              <a:t>MeetingBank</a:t>
            </a:r>
            <a:r>
              <a:rPr lang="en-US" b="1" dirty="0"/>
              <a:t>: A Benchmark Dataset," 2023.  </a:t>
            </a:r>
          </a:p>
          <a:p>
            <a:pPr marL="0" indent="0">
              <a:buNone/>
            </a:pPr>
            <a:r>
              <a:rPr lang="en-US" b="1" dirty="0"/>
              <a:t>[21] Wang, Y., et al. "Improving extractive summarization with topic-injection BERT," 2024.  </a:t>
            </a:r>
          </a:p>
          <a:p>
            <a:pPr marL="0" indent="0">
              <a:buNone/>
            </a:pPr>
            <a:r>
              <a:rPr lang="en-US" b="1" dirty="0"/>
              <a:t>[22] Abdel-Salam, S., et al. "Performance Study on Extractive Text Summarization," 2022.  </a:t>
            </a:r>
          </a:p>
          <a:p>
            <a:pPr marL="0" indent="0">
              <a:buNone/>
            </a:pPr>
            <a:r>
              <a:rPr lang="en-US" b="1" dirty="0"/>
              <a:t>[23] Jia, Q., et al. "Taxonomy of Abstractive Dialogue Summarization," 2023.  </a:t>
            </a:r>
          </a:p>
          <a:p>
            <a:pPr marL="0" indent="0">
              <a:buNone/>
            </a:pPr>
            <a:r>
              <a:rPr lang="en-US" b="1" dirty="0"/>
              <a:t>[24] Aggarwal, R., et al. "Conversational Summarization and Response Generation," 2025.  </a:t>
            </a:r>
          </a:p>
          <a:p>
            <a:pPr marL="0" indent="0">
              <a:buNone/>
            </a:pPr>
            <a:r>
              <a:rPr lang="en-US" b="1" dirty="0"/>
              <a:t>[25] Benny, A. "Text Summarization using Pegasus Model," 2024.  </a:t>
            </a:r>
          </a:p>
          <a:p>
            <a:pPr marL="0" indent="0">
              <a:buNone/>
            </a:pPr>
            <a:r>
              <a:rPr lang="en-US" b="1" dirty="0"/>
              <a:t>[26] </a:t>
            </a:r>
            <a:r>
              <a:rPr lang="en-US" b="1" dirty="0" err="1"/>
              <a:t>Junadhi</a:t>
            </a:r>
            <a:r>
              <a:rPr lang="en-US" b="1" dirty="0"/>
              <a:t>, et al. "Improving Evaluation Metrics for Text Summarization," 2025.  </a:t>
            </a:r>
          </a:p>
          <a:p>
            <a:pPr marL="0" indent="0">
              <a:buNone/>
            </a:pPr>
            <a:r>
              <a:rPr lang="en-US" b="1" dirty="0"/>
              <a:t>[27] Rajesh, P. "Machine learning techniques like SVMs for extractive summaries," 2025.  </a:t>
            </a:r>
          </a:p>
          <a:p>
            <a:pPr marL="0" indent="0">
              <a:buNone/>
            </a:pPr>
            <a:r>
              <a:rPr lang="en-US" b="1" dirty="0"/>
              <a:t>[28] </a:t>
            </a:r>
            <a:r>
              <a:rPr lang="en-US" b="1" dirty="0" err="1"/>
              <a:t>Daraghmi</a:t>
            </a:r>
            <a:r>
              <a:rPr lang="en-US" b="1" dirty="0"/>
              <a:t>, E., et al. "A Comparative Study of PEGASUS, BART, and T5," 2025.  </a:t>
            </a:r>
          </a:p>
          <a:p>
            <a:pPr marL="0" indent="0">
              <a:buNone/>
            </a:pPr>
            <a:r>
              <a:rPr lang="en-US" b="1" dirty="0"/>
              <a:t>[29] Fu, X. "Transformer models in text summarization," 2024.  </a:t>
            </a:r>
          </a:p>
          <a:p>
            <a:pPr marL="0" indent="0">
              <a:buNone/>
            </a:pPr>
            <a:r>
              <a:rPr lang="en-US" b="1" dirty="0"/>
              <a:t>[30] Nnadi, G.O., et al. "Survey on Abstractive Text Summarization," 2024.  </a:t>
            </a:r>
          </a:p>
          <a:p>
            <a:pPr marL="0" indent="0">
              <a:buNone/>
            </a:pPr>
            <a:r>
              <a:rPr lang="en-US" b="1" dirty="0"/>
              <a:t>[31] </a:t>
            </a:r>
            <a:r>
              <a:rPr lang="en-US" b="1" dirty="0" err="1"/>
              <a:t>Dharrao</a:t>
            </a:r>
            <a:r>
              <a:rPr lang="en-US" b="1" dirty="0"/>
              <a:t>, D., et al. "Summarizing Business News: Evaluating BART, T5, and PEGASUS," 2024.  </a:t>
            </a:r>
          </a:p>
          <a:p>
            <a:pPr marL="0" indent="0">
              <a:buNone/>
            </a:pPr>
            <a:r>
              <a:rPr lang="en-US" b="1" dirty="0"/>
              <a:t>[32] Zayed, S., et al. "An Enhanced Transformer–Extractive Hybrid Model," 2026.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008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42"/>
    </mc:Choice>
    <mc:Fallback xmlns="">
      <p:transition spd="slow" advTm="17042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50D1D739-EDC4-4BE6-A073-9B157E1F9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6CDD35A4-E546-4AF3-A8B9-AC24C5C9F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3852070 w 12192000"/>
              <a:gd name="connsiteY1" fmla="*/ 0 h 6858000"/>
              <a:gd name="connsiteX2" fmla="*/ 3878367 w 12192000"/>
              <a:gd name="connsiteY2" fmla="*/ 23504 h 6858000"/>
              <a:gd name="connsiteX3" fmla="*/ 3885324 w 12192000"/>
              <a:gd name="connsiteY3" fmla="*/ 84795 h 6858000"/>
              <a:gd name="connsiteX4" fmla="*/ 3820400 w 12192000"/>
              <a:gd name="connsiteY4" fmla="*/ 131127 h 6858000"/>
              <a:gd name="connsiteX5" fmla="*/ 3631811 w 12192000"/>
              <a:gd name="connsiteY5" fmla="*/ 219929 h 6858000"/>
              <a:gd name="connsiteX6" fmla="*/ 4327428 w 12192000"/>
              <a:gd name="connsiteY6" fmla="*/ 351201 h 6858000"/>
              <a:gd name="connsiteX7" fmla="*/ 4080099 w 12192000"/>
              <a:gd name="connsiteY7" fmla="*/ 432279 h 6858000"/>
              <a:gd name="connsiteX8" fmla="*/ 3823492 w 12192000"/>
              <a:gd name="connsiteY8" fmla="*/ 490194 h 6858000"/>
              <a:gd name="connsiteX9" fmla="*/ 3545246 w 12192000"/>
              <a:gd name="connsiteY9" fmla="*/ 532664 h 6858000"/>
              <a:gd name="connsiteX10" fmla="*/ 3291732 w 12192000"/>
              <a:gd name="connsiteY10" fmla="*/ 617605 h 6858000"/>
              <a:gd name="connsiteX11" fmla="*/ 3953340 w 12192000"/>
              <a:gd name="connsiteY11" fmla="*/ 652353 h 6858000"/>
              <a:gd name="connsiteX12" fmla="*/ 3610170 w 12192000"/>
              <a:gd name="connsiteY12" fmla="*/ 729572 h 6858000"/>
              <a:gd name="connsiteX13" fmla="*/ 3328832 w 12192000"/>
              <a:gd name="connsiteY13" fmla="*/ 829957 h 6858000"/>
              <a:gd name="connsiteX14" fmla="*/ 3130966 w 12192000"/>
              <a:gd name="connsiteY14" fmla="*/ 876288 h 6858000"/>
              <a:gd name="connsiteX15" fmla="*/ 2920736 w 12192000"/>
              <a:gd name="connsiteY15" fmla="*/ 887872 h 6858000"/>
              <a:gd name="connsiteX16" fmla="*/ 2871269 w 12192000"/>
              <a:gd name="connsiteY16" fmla="*/ 961228 h 6858000"/>
              <a:gd name="connsiteX17" fmla="*/ 2936195 w 12192000"/>
              <a:gd name="connsiteY17" fmla="*/ 1038448 h 6858000"/>
              <a:gd name="connsiteX18" fmla="*/ 3035126 w 12192000"/>
              <a:gd name="connsiteY18" fmla="*/ 1046168 h 6858000"/>
              <a:gd name="connsiteX19" fmla="*/ 3625627 w 12192000"/>
              <a:gd name="connsiteY19" fmla="*/ 1065474 h 6858000"/>
              <a:gd name="connsiteX20" fmla="*/ 1733551 w 12192000"/>
              <a:gd name="connsiteY20" fmla="*/ 1235355 h 6858000"/>
              <a:gd name="connsiteX21" fmla="*/ 1990156 w 12192000"/>
              <a:gd name="connsiteY21" fmla="*/ 1339602 h 6858000"/>
              <a:gd name="connsiteX22" fmla="*/ 2076722 w 12192000"/>
              <a:gd name="connsiteY22" fmla="*/ 1625311 h 6858000"/>
              <a:gd name="connsiteX23" fmla="*/ 2392067 w 12192000"/>
              <a:gd name="connsiteY23" fmla="*/ 1787470 h 6858000"/>
              <a:gd name="connsiteX24" fmla="*/ 2596115 w 12192000"/>
              <a:gd name="connsiteY24" fmla="*/ 1845385 h 6858000"/>
              <a:gd name="connsiteX25" fmla="*/ 3062950 w 12192000"/>
              <a:gd name="connsiteY25" fmla="*/ 1930326 h 6858000"/>
              <a:gd name="connsiteX26" fmla="*/ 3130966 w 12192000"/>
              <a:gd name="connsiteY26" fmla="*/ 2069319 h 6858000"/>
              <a:gd name="connsiteX27" fmla="*/ 3189708 w 12192000"/>
              <a:gd name="connsiteY27" fmla="*/ 2223754 h 6858000"/>
              <a:gd name="connsiteX28" fmla="*/ 3313373 w 12192000"/>
              <a:gd name="connsiteY28" fmla="*/ 2324141 h 6858000"/>
              <a:gd name="connsiteX29" fmla="*/ 2351877 w 12192000"/>
              <a:gd name="connsiteY29" fmla="*/ 2308697 h 6858000"/>
              <a:gd name="connsiteX30" fmla="*/ 3437038 w 12192000"/>
              <a:gd name="connsiteY30" fmla="*/ 2633017 h 6858000"/>
              <a:gd name="connsiteX31" fmla="*/ 3341198 w 12192000"/>
              <a:gd name="connsiteY31" fmla="*/ 2760427 h 6858000"/>
              <a:gd name="connsiteX32" fmla="*/ 3934791 w 12192000"/>
              <a:gd name="connsiteY32" fmla="*/ 2934169 h 6858000"/>
              <a:gd name="connsiteX33" fmla="*/ 3616352 w 12192000"/>
              <a:gd name="connsiteY33" fmla="*/ 2953473 h 6858000"/>
              <a:gd name="connsiteX34" fmla="*/ 5468240 w 12192000"/>
              <a:gd name="connsiteY34" fmla="*/ 3679329 h 6858000"/>
              <a:gd name="connsiteX35" fmla="*/ 8111582 w 12192000"/>
              <a:gd name="connsiteY35" fmla="*/ 4204418 h 6858000"/>
              <a:gd name="connsiteX36" fmla="*/ 9144186 w 12192000"/>
              <a:gd name="connsiteY36" fmla="*/ 4304802 h 6858000"/>
              <a:gd name="connsiteX37" fmla="*/ 10319004 w 12192000"/>
              <a:gd name="connsiteY37" fmla="*/ 4273915 h 6858000"/>
              <a:gd name="connsiteX38" fmla="*/ 12053408 w 12192000"/>
              <a:gd name="connsiteY38" fmla="*/ 3907125 h 6858000"/>
              <a:gd name="connsiteX39" fmla="*/ 12192000 w 12192000"/>
              <a:gd name="connsiteY39" fmla="*/ 3841157 h 6858000"/>
              <a:gd name="connsiteX40" fmla="*/ 12192000 w 12192000"/>
              <a:gd name="connsiteY40" fmla="*/ 6858000 h 6858000"/>
              <a:gd name="connsiteX41" fmla="*/ 0 w 12192000"/>
              <a:gd name="connsiteY4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3852070" y="0"/>
                </a:lnTo>
                <a:lnTo>
                  <a:pt x="3878367" y="23504"/>
                </a:lnTo>
                <a:cubicBezTo>
                  <a:pt x="3887642" y="39430"/>
                  <a:pt x="3891507" y="59700"/>
                  <a:pt x="3885324" y="84795"/>
                </a:cubicBezTo>
                <a:cubicBezTo>
                  <a:pt x="3876049" y="123406"/>
                  <a:pt x="3845133" y="123406"/>
                  <a:pt x="3820400" y="131127"/>
                </a:cubicBezTo>
                <a:cubicBezTo>
                  <a:pt x="3764751" y="154292"/>
                  <a:pt x="3696735" y="138849"/>
                  <a:pt x="3631811" y="219929"/>
                </a:cubicBezTo>
                <a:cubicBezTo>
                  <a:pt x="3879141" y="262399"/>
                  <a:pt x="4117198" y="181318"/>
                  <a:pt x="4327428" y="351201"/>
                </a:cubicBezTo>
                <a:cubicBezTo>
                  <a:pt x="4250138" y="436142"/>
                  <a:pt x="4163572" y="416836"/>
                  <a:pt x="4080099" y="432279"/>
                </a:cubicBezTo>
                <a:cubicBezTo>
                  <a:pt x="3993533" y="447725"/>
                  <a:pt x="3910058" y="474751"/>
                  <a:pt x="3823492" y="490194"/>
                </a:cubicBezTo>
                <a:cubicBezTo>
                  <a:pt x="3730743" y="509498"/>
                  <a:pt x="3637993" y="513360"/>
                  <a:pt x="3545246" y="532664"/>
                </a:cubicBezTo>
                <a:cubicBezTo>
                  <a:pt x="3467954" y="548109"/>
                  <a:pt x="3384480" y="521081"/>
                  <a:pt x="3291732" y="617605"/>
                </a:cubicBezTo>
                <a:cubicBezTo>
                  <a:pt x="3520513" y="687103"/>
                  <a:pt x="3727651" y="582857"/>
                  <a:pt x="3953340" y="652353"/>
                </a:cubicBezTo>
                <a:cubicBezTo>
                  <a:pt x="3820400" y="714129"/>
                  <a:pt x="3712194" y="694824"/>
                  <a:pt x="3610170" y="729572"/>
                </a:cubicBezTo>
                <a:cubicBezTo>
                  <a:pt x="3517420" y="764322"/>
                  <a:pt x="3406122" y="725712"/>
                  <a:pt x="3328832" y="829957"/>
                </a:cubicBezTo>
                <a:cubicBezTo>
                  <a:pt x="3270090" y="911035"/>
                  <a:pt x="3208258" y="922618"/>
                  <a:pt x="3130966" y="876288"/>
                </a:cubicBezTo>
                <a:cubicBezTo>
                  <a:pt x="3062950" y="833818"/>
                  <a:pt x="2988752" y="845400"/>
                  <a:pt x="2920736" y="887872"/>
                </a:cubicBezTo>
                <a:cubicBezTo>
                  <a:pt x="2896004" y="903315"/>
                  <a:pt x="2871269" y="922618"/>
                  <a:pt x="2871269" y="961228"/>
                </a:cubicBezTo>
                <a:cubicBezTo>
                  <a:pt x="2871269" y="1015283"/>
                  <a:pt x="2902186" y="1030726"/>
                  <a:pt x="2936195" y="1038448"/>
                </a:cubicBezTo>
                <a:cubicBezTo>
                  <a:pt x="2967111" y="1046168"/>
                  <a:pt x="3004210" y="1053891"/>
                  <a:pt x="3035126" y="1046168"/>
                </a:cubicBezTo>
                <a:cubicBezTo>
                  <a:pt x="3232990" y="1003700"/>
                  <a:pt x="3427764" y="1073194"/>
                  <a:pt x="3625627" y="1065474"/>
                </a:cubicBezTo>
                <a:cubicBezTo>
                  <a:pt x="3004210" y="1231494"/>
                  <a:pt x="2376610" y="1177441"/>
                  <a:pt x="1733551" y="1235355"/>
                </a:cubicBezTo>
                <a:cubicBezTo>
                  <a:pt x="1817025" y="1351183"/>
                  <a:pt x="1925232" y="1254661"/>
                  <a:pt x="1990156" y="1339602"/>
                </a:cubicBezTo>
                <a:cubicBezTo>
                  <a:pt x="1928323" y="1517205"/>
                  <a:pt x="1953057" y="1613728"/>
                  <a:pt x="2076722" y="1625311"/>
                </a:cubicBezTo>
                <a:cubicBezTo>
                  <a:pt x="2197295" y="1636894"/>
                  <a:pt x="2327143" y="1575118"/>
                  <a:pt x="2392067" y="1787470"/>
                </a:cubicBezTo>
                <a:cubicBezTo>
                  <a:pt x="2410617" y="1853106"/>
                  <a:pt x="2525008" y="1833802"/>
                  <a:pt x="2596115" y="1845385"/>
                </a:cubicBezTo>
                <a:cubicBezTo>
                  <a:pt x="2750696" y="1872411"/>
                  <a:pt x="2914554" y="1845385"/>
                  <a:pt x="3062950" y="1930326"/>
                </a:cubicBezTo>
                <a:cubicBezTo>
                  <a:pt x="3121692" y="1961213"/>
                  <a:pt x="3161883" y="1984378"/>
                  <a:pt x="3130966" y="2069319"/>
                </a:cubicBezTo>
                <a:cubicBezTo>
                  <a:pt x="3100050" y="2158121"/>
                  <a:pt x="3140242" y="2189008"/>
                  <a:pt x="3189708" y="2223754"/>
                </a:cubicBezTo>
                <a:cubicBezTo>
                  <a:pt x="3226808" y="2250784"/>
                  <a:pt x="3282457" y="2243060"/>
                  <a:pt x="3313373" y="2324141"/>
                </a:cubicBezTo>
                <a:cubicBezTo>
                  <a:pt x="2988752" y="2312558"/>
                  <a:pt x="2673405" y="2246923"/>
                  <a:pt x="2351877" y="2308697"/>
                </a:cubicBezTo>
                <a:cubicBezTo>
                  <a:pt x="2704323" y="2463134"/>
                  <a:pt x="3090776" y="2455412"/>
                  <a:pt x="3437038" y="2633017"/>
                </a:cubicBezTo>
                <a:cubicBezTo>
                  <a:pt x="3424671" y="2694791"/>
                  <a:pt x="3344289" y="2667764"/>
                  <a:pt x="3341198" y="2760427"/>
                </a:cubicBezTo>
                <a:cubicBezTo>
                  <a:pt x="3523603" y="2856951"/>
                  <a:pt x="3743110" y="2791314"/>
                  <a:pt x="3934791" y="2934169"/>
                </a:cubicBezTo>
                <a:cubicBezTo>
                  <a:pt x="3823492" y="2999805"/>
                  <a:pt x="3721469" y="2891699"/>
                  <a:pt x="3616352" y="2953473"/>
                </a:cubicBezTo>
                <a:cubicBezTo>
                  <a:pt x="3650361" y="3046136"/>
                  <a:pt x="5189993" y="3617555"/>
                  <a:pt x="5468240" y="3679329"/>
                </a:cubicBezTo>
                <a:cubicBezTo>
                  <a:pt x="6034007" y="3806740"/>
                  <a:pt x="7663296" y="4131059"/>
                  <a:pt x="8111582" y="4204418"/>
                </a:cubicBezTo>
                <a:cubicBezTo>
                  <a:pt x="8457844" y="4258470"/>
                  <a:pt x="8801016" y="4300942"/>
                  <a:pt x="9144186" y="4304802"/>
                </a:cubicBezTo>
                <a:cubicBezTo>
                  <a:pt x="9536822" y="4308663"/>
                  <a:pt x="9926368" y="4289359"/>
                  <a:pt x="10319004" y="4273915"/>
                </a:cubicBezTo>
                <a:cubicBezTo>
                  <a:pt x="10906415" y="4250750"/>
                  <a:pt x="11484549" y="4158087"/>
                  <a:pt x="12053408" y="3907125"/>
                </a:cubicBezTo>
                <a:lnTo>
                  <a:pt x="12192000" y="3841157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0D4E56C-728F-DAC6-0F7D-0097ACAFA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63422"/>
            <a:ext cx="7268147" cy="17543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  <a:b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DC80F52-BA30-F862-242B-5F6302103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5384878"/>
            <a:ext cx="7315200" cy="77549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Contact: souparnopaulreborn@gmail.com /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somadey05@gmail.com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Institution: Narula Institute of Technology / RCCIIT</a:t>
            </a:r>
          </a:p>
          <a:p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F45FB3-6E5C-A047-1761-2B74753AE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475" y="830669"/>
            <a:ext cx="6153150" cy="220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68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2503</Words>
  <Application>Microsoft Office PowerPoint</Application>
  <PresentationFormat>Widescreen</PresentationFormat>
  <Paragraphs>299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Outline</vt:lpstr>
      <vt:lpstr>Understanding Meeting Summarization</vt:lpstr>
      <vt:lpstr>Introduction: The Current Landscape</vt:lpstr>
      <vt:lpstr>Literature Survey</vt:lpstr>
      <vt:lpstr>Literature Survey</vt:lpstr>
      <vt:lpstr>Identifying the Gap</vt:lpstr>
      <vt:lpstr>Motivation</vt:lpstr>
      <vt:lpstr>Contribution</vt:lpstr>
      <vt:lpstr>Methodology: Data Processing &amp;  ASR</vt:lpstr>
      <vt:lpstr>Methodology: Semantic Chunking &amp;  Hybrid Model</vt:lpstr>
      <vt:lpstr>The Hybrid Pipeline</vt:lpstr>
      <vt:lpstr>Dataset &amp; Experimentation</vt:lpstr>
      <vt:lpstr>Results – Extractive Evaluation</vt:lpstr>
      <vt:lpstr>Results – Abstractive &amp; Hybrid Evaluation</vt:lpstr>
      <vt:lpstr>Comparative Accuracy Analysis</vt:lpstr>
      <vt:lpstr>Performance Evaluation</vt:lpstr>
      <vt:lpstr>Comparative Analysis</vt:lpstr>
      <vt:lpstr>Scalability &amp; Discussion</vt:lpstr>
      <vt:lpstr>Conclusion &amp; Future Work</vt:lpstr>
      <vt:lpstr>References</vt:lpstr>
      <vt:lpstr>References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Jibesh Roy</dc:creator>
  <cp:lastModifiedBy>Souparna Paul</cp:lastModifiedBy>
  <cp:revision>62</cp:revision>
  <dcterms:created xsi:type="dcterms:W3CDTF">2023-10-09T17:25:32Z</dcterms:created>
  <dcterms:modified xsi:type="dcterms:W3CDTF">2026-06-22T13:26:04Z</dcterms:modified>
</cp:coreProperties>
</file>