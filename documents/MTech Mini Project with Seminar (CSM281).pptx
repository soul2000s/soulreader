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66" r:id="rId5"/>
    <p:sldId id="267" r:id="rId6"/>
    <p:sldId id="268" r:id="rId7"/>
    <p:sldId id="259" r:id="rId8"/>
    <p:sldId id="260" r:id="rId9"/>
    <p:sldId id="262" r:id="rId10"/>
    <p:sldId id="269" r:id="rId11"/>
    <p:sldId id="264" r:id="rId12"/>
    <p:sldId id="265" r:id="rId13"/>
    <p:sldId id="270"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56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0777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We're here today for the Q2 project status update on our Advanced AI Dialogue Summarization Framework. This project is all about building a unified, knowledge-grounded generative AI framework. It's designed for adaptive dialogue summarization and intelligent information retrieval. Let's dive into what we've accomplished this quarter.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kick things off, our vision is to bridge the gap between fluent text generation and factual accuracy in AI. We're moving beyond models that just guess; instead, we dynamically query external knowledge bases to verify facts. Our key innovation combines Retrieval-Augmented Generation with context-aware dialogue modeling to eliminate the 'hallucination' problem. I'm pleased to report that in Q2, we successfully completed our environment setup, data indexing, and initial vector store creation. This sets a strong foundation for our next steps.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briefly revisit why this project is so critical. Dialogues are inherently messy, full of slang, interruptions, and multiple speakers. Traditional large language models often suffer from semantic drift in long conversations and can generate 'plausible lies.' Our core goal is to ensure every dialogue summary is concise and 100% factually grounded. To achieve this, we're developing a RAG-based pipeline for real-time semantic searches, implementing a filtering layer for noise reduction, and enabling adaptive retrieval to know precisely when to fetch external data. This directly addresses the challenges we just discussed.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B88CD-31A9-583F-8A19-F1ACD3BE1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4EA52-7A17-E9A1-4E6D-B7E51F3C2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BB679-A424-FAD9-95BF-F01A95934B20}"/>
              </a:ext>
            </a:extLst>
          </p:cNvPr>
          <p:cNvSpPr>
            <a:spLocks noGrp="1"/>
          </p:cNvSpPr>
          <p:nvPr>
            <p:ph type="body" idx="1"/>
          </p:nvPr>
        </p:nvSpPr>
        <p:spPr/>
        <p:txBody>
          <a:bodyPr/>
          <a:lstStyle/>
          <a:p>
            <a:r>
              <a:rPr lang="en-US" dirty="0"/>
              <a:t>Let's briefly revisit why this project is so critical. Dialogues are inherently messy, full of slang, interruptions, and multiple speakers. Traditional large language models often suffer from semantic drift in long conversations and can generate 'plausible lies.' Our core goal is to ensure every dialogue summary is concise and 100% factually grounded. To achieve this, we're developing a RAG-based pipeline for real-time semantic searches, implementing a filtering layer for noise reduction, and enabling adaptive retrieval to know precisely when to fetch external data. This directly addresses the challenges we just discussed.</a:t>
            </a:r>
          </a:p>
        </p:txBody>
      </p:sp>
      <p:sp>
        <p:nvSpPr>
          <p:cNvPr id="4" name="Slide Number Placeholder 3">
            <a:extLst>
              <a:ext uri="{FF2B5EF4-FFF2-40B4-BE49-F238E27FC236}">
                <a16:creationId xmlns:a16="http://schemas.microsoft.com/office/drawing/2014/main" id="{D964E1C0-FCBE-59B8-8502-C8ECDDEB4B1D}"/>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598414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C0DE5-C8E6-86D7-4204-61F9F5C4D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679238-D694-C47D-94AD-BB02833E38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B3046D-D7E0-A4F4-ACC9-2082BB3AE2EB}"/>
              </a:ext>
            </a:extLst>
          </p:cNvPr>
          <p:cNvSpPr>
            <a:spLocks noGrp="1"/>
          </p:cNvSpPr>
          <p:nvPr>
            <p:ph type="body" idx="1"/>
          </p:nvPr>
        </p:nvSpPr>
        <p:spPr/>
        <p:txBody>
          <a:bodyPr/>
          <a:lstStyle/>
          <a:p>
            <a:r>
              <a:rPr lang="en-US" dirty="0"/>
              <a:t>Let's briefly revisit why this project is so critical. Dialogues are inherently messy, full of slang, interruptions, and multiple speakers. Traditional large language models often suffer from semantic drift in long conversations and can generate 'plausible lies.' Our core goal is to ensure every dialogue summary is concise and 100% factually grounded. To achieve this, we're developing a RAG-based pipeline for real-time semantic searches, implementing a filtering layer for noise reduction, and enabling adaptive retrieval to know precisely when to fetch external data. This directly addresses the challenges we just discussed.</a:t>
            </a:r>
          </a:p>
        </p:txBody>
      </p:sp>
      <p:sp>
        <p:nvSpPr>
          <p:cNvPr id="4" name="Slide Number Placeholder 3">
            <a:extLst>
              <a:ext uri="{FF2B5EF4-FFF2-40B4-BE49-F238E27FC236}">
                <a16:creationId xmlns:a16="http://schemas.microsoft.com/office/drawing/2014/main" id="{11D2F08B-3B52-79EF-909E-23BE4486A8A2}"/>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832708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E7A06-4224-6097-5F74-42501F2F2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C5B356-44DA-2647-7ADE-2CB441148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50E02-2C17-2F77-68EA-511B9FBD09F3}"/>
              </a:ext>
            </a:extLst>
          </p:cNvPr>
          <p:cNvSpPr>
            <a:spLocks noGrp="1"/>
          </p:cNvSpPr>
          <p:nvPr>
            <p:ph type="body" idx="1"/>
          </p:nvPr>
        </p:nvSpPr>
        <p:spPr/>
        <p:txBody>
          <a:bodyPr/>
          <a:lstStyle/>
          <a:p>
            <a:r>
              <a:rPr lang="en-US" dirty="0"/>
              <a:t>Let's briefly revisit why this project is so critical. Dialogues are inherently messy, full of slang, interruptions, and multiple speakers. Traditional large language models often suffer from semantic drift in long conversations and can generate 'plausible lies.' Our core goal is to ensure every dialogue summary is concise and 100% factually grounded. To achieve this, we're developing a RAG-based pipeline for real-time semantic searches, implementing a filtering layer for noise reduction, and enabling adaptive retrieval to know precisely when to fetch external data. This directly addresses the challenges we just discussed.</a:t>
            </a:r>
          </a:p>
        </p:txBody>
      </p:sp>
      <p:sp>
        <p:nvSpPr>
          <p:cNvPr id="4" name="Slide Number Placeholder 3">
            <a:extLst>
              <a:ext uri="{FF2B5EF4-FFF2-40B4-BE49-F238E27FC236}">
                <a16:creationId xmlns:a16="http://schemas.microsoft.com/office/drawing/2014/main" id="{28096BD8-EFA7-4FE3-7254-098B35A9322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55055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Q2, we made significant technical strides in implementing our methodology. We established robust input processing pipelines, handling tokenization for multi-turn dialogues and automating speaker identification. Our retrieval engine is now fully functional; we can formulate queries from dialogue snippets and efficiently search our ChromaDB and FAISS vector databases using Dense Passage Retrieval, achieving sub-second latency. We also successfully developed the augmentation strategy to inject retrieved 'Knowledge Triples' directly into our LLM prompts, optimizing them for factual grounding. This progress directly supports our core objectives.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our system architecture, which is now fully mapped out and partially implemented. The process begins with multi-turn user dialogue, which passes through a Transformer-based Bi-Encoder. This is then checked against our integrated external Knowledge Base. The critical component we focused on this quarter is the Fusion Layer, which intelligently combines the dialogue context with the retrieved context. This combined information then goes to the Decoder to generate the final grounded summary, and finally, a Verifier performs a secondary check for factual consistency. This architecture ensures factual accuracy at every step.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was a critical focus this quarter, and we've made significant progress. We've successfully integrated DialogSum for general conversations and MediaSum for fact-dense dialogues, alongside our custom knowledge base built from Wikipedia and specialized documents. Our evaluation framework goes beyond standard metrics. We're using ROUGE for fluency, but more importantly, Entity Precision and FactCC to rigorously measure factual consistency. This will be further validated by expert human evaluation. This comprehensive approach ensures our summaries are not only well-written but also factually sound. Now, let's look at how this fits into our overall project timeline.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D4A06-DE16-8CDF-7E7E-982FB251C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A3803-DD2C-F21B-28AB-1B34E7638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2F8CD8-8EBA-46E3-28C4-161E9F92C4D1}"/>
              </a:ext>
            </a:extLst>
          </p:cNvPr>
          <p:cNvSpPr>
            <a:spLocks noGrp="1"/>
          </p:cNvSpPr>
          <p:nvPr>
            <p:ph type="body" idx="1"/>
          </p:nvPr>
        </p:nvSpPr>
        <p:spPr/>
        <p:txBody>
          <a:bodyPr/>
          <a:lstStyle/>
          <a:p>
            <a:r>
              <a:rPr lang="en-US" dirty="0"/>
              <a:t>Let's briefly revisit why this project is so critical. Dialogues are inherently messy, full of slang, interruptions, and multiple speakers. Traditional large language models often suffer from semantic drift in long conversations and can generate 'plausible lies.' Our core goal is to ensure every dialogue summary is concise and 100% factually grounded. To achieve this, we're developing a RAG-based pipeline for real-time semantic searches, implementing a filtering layer for noise reduction, and enabling adaptive retrieval to know precisely when to fetch external data. This directly addresses the challenges we just discussed.</a:t>
            </a:r>
          </a:p>
        </p:txBody>
      </p:sp>
      <p:sp>
        <p:nvSpPr>
          <p:cNvPr id="4" name="Slide Number Placeholder 3">
            <a:extLst>
              <a:ext uri="{FF2B5EF4-FFF2-40B4-BE49-F238E27FC236}">
                <a16:creationId xmlns:a16="http://schemas.microsoft.com/office/drawing/2014/main" id="{D513866C-2033-AD12-53D7-1A653B42166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25977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framework is on track to deliver a scalable solution for accurate, real-time dialogue intelligence. We're significantly mitigating the risk of AI hallucinations in multi-turn conversations. Our immediate next steps involve initiating domain-specific fine-tuning using LoRA and beginning preliminary performance testing on the DialogSum dataset. We'll also refine our filtering layer for even better noise reduction. Looking ahead, we're already exploring exciting future scopes like multimodal retrieval for video calls and optimizing for edge devices. This ensures our solution remains cutting-edge and adaptable. Now, I'd like to open the floor for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for your time and attention today. I'd now like to open the floor to any questions you might have regarding our Q2 progress, the methodology, or our upcoming implementation phases. We appreciate your continued support.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25350-BB36-A7A9-9891-441B1EC3B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7DFBA-910D-C1F8-617C-10C4E9C15F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DF1505-376F-1ED2-FCD1-668E6A1D15C2}"/>
              </a:ext>
            </a:extLst>
          </p:cNvPr>
          <p:cNvSpPr>
            <a:spLocks noGrp="1"/>
          </p:cNvSpPr>
          <p:nvPr>
            <p:ph type="body" idx="1"/>
          </p:nvPr>
        </p:nvSpPr>
        <p:spPr/>
        <p:txBody>
          <a:bodyPr/>
          <a:lstStyle/>
          <a:p>
            <a:r>
              <a:rPr lang="en-US" dirty="0"/>
              <a:t>Thank you all for your time and attention today. I'd now like to open the floor to any questions you might have regarding our Q2 progress, the methodology, or our upcoming implementation phases. We appreciate your continued support.</a:t>
            </a:r>
          </a:p>
        </p:txBody>
      </p:sp>
      <p:sp>
        <p:nvSpPr>
          <p:cNvPr id="4" name="Slide Number Placeholder 3">
            <a:extLst>
              <a:ext uri="{FF2B5EF4-FFF2-40B4-BE49-F238E27FC236}">
                <a16:creationId xmlns:a16="http://schemas.microsoft.com/office/drawing/2014/main" id="{F50C709C-B31E-BC60-2AF0-AED03A09053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964131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642938" y="1383767"/>
            <a:ext cx="7858125" cy="1063753"/>
          </a:xfrm>
          <a:prstGeom prst="rect">
            <a:avLst/>
          </a:prstGeom>
          <a:noFill/>
          <a:ln/>
        </p:spPr>
        <p:txBody>
          <a:bodyPr wrap="square" lIns="0" tIns="0" rIns="0" bIns="0" rtlCol="0" anchor="t">
            <a:spAutoFit/>
          </a:bodyPr>
          <a:lstStyle/>
          <a:p>
            <a:pPr marL="0" indent="0" algn="l">
              <a:lnSpc>
                <a:spcPct val="96000"/>
              </a:lnSpc>
              <a:buNone/>
            </a:pPr>
            <a:r>
              <a:rPr lang="en-US" sz="2400" b="1" dirty="0">
                <a:solidFill>
                  <a:srgbClr val="0F2537"/>
                </a:solidFill>
                <a:latin typeface="Playfair Display Bold" pitchFamily="34" charset="0"/>
                <a:ea typeface="Playfair Display Bold" pitchFamily="34" charset="-122"/>
                <a:cs typeface="Playfair Display Bold" pitchFamily="34" charset="-120"/>
              </a:rPr>
              <a:t>A Unified Knowledge-Grounded Generative AI Framework for Adaptive Dialogue Summarization and Intelligent Information Retrieval</a:t>
            </a:r>
            <a:endParaRPr lang="en-US" sz="2400" dirty="0"/>
          </a:p>
        </p:txBody>
      </p:sp>
      <p:sp>
        <p:nvSpPr>
          <p:cNvPr id="5" name="Text 1"/>
          <p:cNvSpPr/>
          <p:nvPr/>
        </p:nvSpPr>
        <p:spPr>
          <a:xfrm>
            <a:off x="642938" y="2623877"/>
            <a:ext cx="5495094" cy="292259"/>
          </a:xfrm>
          <a:prstGeom prst="rect">
            <a:avLst/>
          </a:prstGeom>
          <a:noFill/>
          <a:ln/>
        </p:spPr>
        <p:txBody>
          <a:bodyPr wrap="none" lIns="0" tIns="0" rIns="0" bIns="0" rtlCol="0" anchor="t">
            <a:spAutoFit/>
          </a:bodyPr>
          <a:lstStyle/>
          <a:p>
            <a:pPr marL="0" indent="0" algn="l">
              <a:lnSpc>
                <a:spcPct val="120000"/>
              </a:lnSpc>
              <a:buNone/>
            </a:pPr>
            <a:r>
              <a:rPr lang="en-US" sz="1700" dirty="0">
                <a:solidFill>
                  <a:srgbClr val="2C3E50"/>
                </a:solidFill>
                <a:latin typeface="Work Sans" pitchFamily="34" charset="0"/>
                <a:ea typeface="Work Sans" pitchFamily="34" charset="-122"/>
                <a:cs typeface="Work Sans" pitchFamily="34" charset="-120"/>
              </a:rPr>
              <a:t>Natural Language Processing (NLP) / Deep Learning</a:t>
            </a:r>
            <a:endParaRPr lang="en-US" sz="1700" dirty="0"/>
          </a:p>
        </p:txBody>
      </p:sp>
      <p:sp>
        <p:nvSpPr>
          <p:cNvPr id="6" name="Text 2"/>
          <p:cNvSpPr/>
          <p:nvPr/>
        </p:nvSpPr>
        <p:spPr>
          <a:xfrm>
            <a:off x="642938" y="3331108"/>
            <a:ext cx="6184385" cy="566694"/>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Presenter: Souparna Paul (Roll No: 127256200014)</a:t>
            </a:r>
          </a:p>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Supervisor: Dr. Soma Chatterjee</a:t>
            </a:r>
          </a:p>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Institution: Department of Computer Science and Engineering, Narula Institute of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0"/>
          <p:cNvSpPr/>
          <p:nvPr/>
        </p:nvSpPr>
        <p:spPr>
          <a:xfrm>
            <a:off x="642938" y="1329630"/>
            <a:ext cx="7858125" cy="246221"/>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Abstract / Executive Summary</a:t>
            </a:r>
            <a:endParaRPr lang="en-US" sz="1600" dirty="0"/>
          </a:p>
        </p:txBody>
      </p:sp>
      <p:sp>
        <p:nvSpPr>
          <p:cNvPr id="5" name="Text 1"/>
          <p:cNvSpPr/>
          <p:nvPr/>
        </p:nvSpPr>
        <p:spPr>
          <a:xfrm>
            <a:off x="857250" y="1806476"/>
            <a:ext cx="5717912" cy="178895"/>
          </a:xfrm>
          <a:prstGeom prst="rect">
            <a:avLst/>
          </a:prstGeom>
          <a:noFill/>
          <a:ln/>
        </p:spPr>
        <p:txBody>
          <a:bodyPr wrap="none" lIns="0" tIns="0" rIns="0" bIns="0" rtlCol="0" anchor="t">
            <a:spAutoFit/>
          </a:bodyPr>
          <a:lstStyle/>
          <a:p>
            <a:pPr marL="0" indent="0" algn="l">
              <a:lnSpc>
                <a:spcPct val="120000"/>
              </a:lnSpc>
              <a:buNone/>
            </a:pPr>
            <a:r>
              <a:rPr lang="en-US" sz="1050" b="1" dirty="0">
                <a:solidFill>
                  <a:srgbClr val="2C3E50"/>
                </a:solidFill>
                <a:latin typeface="Work Sans" pitchFamily="34" charset="0"/>
                <a:ea typeface="Work Sans" pitchFamily="34" charset="-122"/>
                <a:cs typeface="Work Sans" pitchFamily="34" charset="-120"/>
              </a:rPr>
              <a:t>The Vision: </a:t>
            </a:r>
            <a:r>
              <a:rPr lang="en-US" sz="1050" dirty="0">
                <a:solidFill>
                  <a:srgbClr val="2C3E50"/>
                </a:solidFill>
                <a:latin typeface="Work Sans" pitchFamily="34" charset="0"/>
                <a:ea typeface="Work Sans" pitchFamily="34" charset="-122"/>
                <a:cs typeface="Work Sans" pitchFamily="34" charset="-120"/>
              </a:rPr>
              <a:t>To bridge the gap between "fluent" generation and "factual" accuracy in AI.</a:t>
            </a:r>
          </a:p>
        </p:txBody>
      </p:sp>
      <p:sp>
        <p:nvSpPr>
          <p:cNvPr id="6" name="Text 2"/>
          <p:cNvSpPr/>
          <p:nvPr/>
        </p:nvSpPr>
        <p:spPr>
          <a:xfrm>
            <a:off x="857250" y="2127945"/>
            <a:ext cx="7643813" cy="374398"/>
          </a:xfrm>
          <a:prstGeom prst="rect">
            <a:avLst/>
          </a:prstGeom>
          <a:noFill/>
          <a:ln/>
        </p:spPr>
        <p:txBody>
          <a:bodyPr wrap="square" lIns="0" tIns="0" rIns="0" bIns="0" rtlCol="0" anchor="t">
            <a:spAutoFit/>
          </a:bodyPr>
          <a:lstStyle/>
          <a:p>
            <a:pPr marL="0" indent="0" algn="l">
              <a:lnSpc>
                <a:spcPct val="120000"/>
              </a:lnSpc>
              <a:buNone/>
            </a:pPr>
            <a:r>
              <a:rPr lang="en-US" sz="1050" b="1" dirty="0">
                <a:solidFill>
                  <a:srgbClr val="2C3E50"/>
                </a:solidFill>
                <a:latin typeface="Work Sans" pitchFamily="34" charset="0"/>
                <a:ea typeface="Work Sans" pitchFamily="34" charset="-122"/>
                <a:cs typeface="Work Sans" pitchFamily="34" charset="-120"/>
              </a:rPr>
              <a:t>The Core Approach:</a:t>
            </a:r>
            <a:r>
              <a:rPr lang="en-US" sz="1050" dirty="0">
                <a:solidFill>
                  <a:srgbClr val="2C3E50"/>
                </a:solidFill>
                <a:latin typeface="Work Sans" pitchFamily="34" charset="0"/>
                <a:ea typeface="Work Sans" pitchFamily="34" charset="-122"/>
                <a:cs typeface="Work Sans" pitchFamily="34" charset="-120"/>
              </a:rPr>
              <a:t> This research proposes a framework that doesn't just summarize dialogue based on internal weights but dynamically queries an external knowledge base to verify facts.</a:t>
            </a:r>
            <a:endParaRPr lang="en-US" sz="1050" dirty="0"/>
          </a:p>
        </p:txBody>
      </p:sp>
      <p:sp>
        <p:nvSpPr>
          <p:cNvPr id="7" name="Text 3"/>
          <p:cNvSpPr/>
          <p:nvPr/>
        </p:nvSpPr>
        <p:spPr>
          <a:xfrm>
            <a:off x="857250" y="2663726"/>
            <a:ext cx="7643813" cy="372794"/>
          </a:xfrm>
          <a:prstGeom prst="rect">
            <a:avLst/>
          </a:prstGeom>
          <a:noFill/>
          <a:ln/>
        </p:spPr>
        <p:txBody>
          <a:bodyPr wrap="square" lIns="0" tIns="0" rIns="0" bIns="0" rtlCol="0" anchor="t">
            <a:spAutoFit/>
          </a:bodyPr>
          <a:lstStyle/>
          <a:p>
            <a:pPr marL="0" indent="0" algn="l">
              <a:lnSpc>
                <a:spcPct val="120000"/>
              </a:lnSpc>
              <a:buNone/>
            </a:pPr>
            <a:r>
              <a:rPr lang="en-US" sz="1050" b="1" dirty="0">
                <a:solidFill>
                  <a:srgbClr val="2C3E50"/>
                </a:solidFill>
                <a:latin typeface="Work Sans" pitchFamily="34" charset="0"/>
                <a:ea typeface="Work Sans" pitchFamily="34" charset="-122"/>
                <a:cs typeface="Work Sans" pitchFamily="34" charset="-120"/>
              </a:rPr>
              <a:t>Key Innovation:</a:t>
            </a:r>
            <a:r>
              <a:rPr lang="en-US" sz="1050" dirty="0">
                <a:solidFill>
                  <a:srgbClr val="2C3E50"/>
                </a:solidFill>
                <a:latin typeface="Work Sans" pitchFamily="34" charset="0"/>
                <a:ea typeface="Work Sans" pitchFamily="34" charset="-122"/>
                <a:cs typeface="Work Sans" pitchFamily="34" charset="-120"/>
              </a:rPr>
              <a:t> Integration of </a:t>
            </a:r>
            <a:r>
              <a:rPr lang="en-US" sz="1050" b="1" dirty="0">
                <a:solidFill>
                  <a:srgbClr val="2C3E50"/>
                </a:solidFill>
                <a:latin typeface="Work Sans" pitchFamily="34" charset="0"/>
                <a:ea typeface="Work Sans" pitchFamily="34" charset="-122"/>
                <a:cs typeface="Work Sans" pitchFamily="34" charset="-120"/>
              </a:rPr>
              <a:t>Retrieval-Augmented Generation (RAG)</a:t>
            </a:r>
            <a:r>
              <a:rPr lang="en-US" sz="1050" dirty="0">
                <a:solidFill>
                  <a:srgbClr val="2C3E50"/>
                </a:solidFill>
                <a:latin typeface="Work Sans" pitchFamily="34" charset="0"/>
                <a:ea typeface="Work Sans" pitchFamily="34" charset="-122"/>
                <a:cs typeface="Work Sans" pitchFamily="34" charset="-120"/>
              </a:rPr>
              <a:t> with </a:t>
            </a:r>
            <a:r>
              <a:rPr lang="en-US" sz="1050" b="1" dirty="0">
                <a:solidFill>
                  <a:srgbClr val="2C3E50"/>
                </a:solidFill>
                <a:latin typeface="Work Sans" pitchFamily="34" charset="0"/>
                <a:ea typeface="Work Sans" pitchFamily="34" charset="-122"/>
                <a:cs typeface="Work Sans" pitchFamily="34" charset="-120"/>
              </a:rPr>
              <a:t>Context-Aware Dialogue Modeling</a:t>
            </a:r>
            <a:r>
              <a:rPr lang="en-US" sz="1050" dirty="0">
                <a:solidFill>
                  <a:srgbClr val="2C3E50"/>
                </a:solidFill>
                <a:latin typeface="Work Sans" pitchFamily="34" charset="0"/>
                <a:ea typeface="Work Sans" pitchFamily="34" charset="-122"/>
                <a:cs typeface="Work Sans" pitchFamily="34" charset="-120"/>
              </a:rPr>
              <a:t> to solve the "Hallucination" problem in multi-turn conversations.</a:t>
            </a:r>
          </a:p>
        </p:txBody>
      </p:sp>
      <p:sp>
        <p:nvSpPr>
          <p:cNvPr id="8" name="Text 4"/>
          <p:cNvSpPr/>
          <p:nvPr/>
        </p:nvSpPr>
        <p:spPr>
          <a:xfrm>
            <a:off x="857250" y="3492401"/>
            <a:ext cx="6944209" cy="180499"/>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Milestone: Successfully completed environment setup, data indexing, and initial vector store creation.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0"/>
          <p:cNvSpPr/>
          <p:nvPr/>
        </p:nvSpPr>
        <p:spPr>
          <a:xfrm>
            <a:off x="642938" y="895648"/>
            <a:ext cx="7858125" cy="246221"/>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Introduction &amp; Context</a:t>
            </a:r>
            <a:endParaRPr lang="en-US" sz="1600" dirty="0"/>
          </a:p>
        </p:txBody>
      </p:sp>
      <p:sp>
        <p:nvSpPr>
          <p:cNvPr id="5" name="Text 1"/>
          <p:cNvSpPr/>
          <p:nvPr/>
        </p:nvSpPr>
        <p:spPr>
          <a:xfrm>
            <a:off x="642938" y="1515368"/>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Evolution of Summarization:</a:t>
            </a:r>
            <a:endParaRPr lang="en-US" sz="1200" dirty="0"/>
          </a:p>
        </p:txBody>
      </p:sp>
      <p:sp>
        <p:nvSpPr>
          <p:cNvPr id="6" name="Text 2"/>
          <p:cNvSpPr/>
          <p:nvPr/>
        </p:nvSpPr>
        <p:spPr>
          <a:xfrm>
            <a:off x="857250" y="1783259"/>
            <a:ext cx="7643813" cy="180499"/>
          </a:xfrm>
          <a:prstGeom prst="rect">
            <a:avLst/>
          </a:prstGeom>
          <a:noFill/>
          <a:ln/>
        </p:spPr>
        <p:txBody>
          <a:bodyPr wrap="square" lIns="0" tIns="0" rIns="0" bIns="0" rtlCol="0" anchor="t">
            <a:spAutoFit/>
          </a:bodyPr>
          <a:lstStyle/>
          <a:p>
            <a:pPr marL="0" indent="0">
              <a:lnSpc>
                <a:spcPct val="120000"/>
              </a:lnSpc>
              <a:buNone/>
            </a:pPr>
            <a:r>
              <a:rPr lang="en-US" sz="1050" dirty="0">
                <a:solidFill>
                  <a:srgbClr val="2C3E50"/>
                </a:solidFill>
                <a:latin typeface="Work Sans" pitchFamily="34" charset="0"/>
                <a:ea typeface="Work Sans" pitchFamily="34" charset="-122"/>
                <a:cs typeface="Work Sans" pitchFamily="34" charset="-120"/>
              </a:rPr>
              <a:t>From Extractive (copy-pasting sentences) to Abstractive (rewriting like a human).</a:t>
            </a:r>
            <a:endParaRPr lang="en-US" sz="1050" dirty="0"/>
          </a:p>
        </p:txBody>
      </p:sp>
      <p:sp>
        <p:nvSpPr>
          <p:cNvPr id="7" name="Text 3"/>
          <p:cNvSpPr/>
          <p:nvPr/>
        </p:nvSpPr>
        <p:spPr>
          <a:xfrm>
            <a:off x="642937" y="2226707"/>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The Challenge of Dialogues:</a:t>
            </a:r>
            <a:endParaRPr lang="en-US" sz="1200" dirty="0"/>
          </a:p>
        </p:txBody>
      </p:sp>
      <p:sp>
        <p:nvSpPr>
          <p:cNvPr id="8" name="Text 4"/>
          <p:cNvSpPr/>
          <p:nvPr/>
        </p:nvSpPr>
        <p:spPr>
          <a:xfrm>
            <a:off x="857250" y="2587687"/>
            <a:ext cx="7077258" cy="374398"/>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Unlike documents, dialogues are messy—they contain slang, interruptions, multiple speakers, and implicit </a:t>
            </a:r>
          </a:p>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references ("he," "that thing").</a:t>
            </a:r>
            <a:endParaRPr lang="en-US" sz="1050" dirty="0"/>
          </a:p>
        </p:txBody>
      </p:sp>
      <p:sp>
        <p:nvSpPr>
          <p:cNvPr id="9" name="Text 5"/>
          <p:cNvSpPr/>
          <p:nvPr/>
        </p:nvSpPr>
        <p:spPr>
          <a:xfrm>
            <a:off x="642938" y="3122712"/>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Knowledge Grounding:</a:t>
            </a:r>
            <a:endParaRPr lang="en-US" sz="1200" dirty="0"/>
          </a:p>
        </p:txBody>
      </p:sp>
      <p:sp>
        <p:nvSpPr>
          <p:cNvPr id="10" name="Text 6"/>
          <p:cNvSpPr/>
          <p:nvPr/>
        </p:nvSpPr>
        <p:spPr>
          <a:xfrm>
            <a:off x="857250" y="3390602"/>
            <a:ext cx="7134967" cy="374398"/>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The process of anchoring AI responses in a verified source of truth (e.g., Wikipedia, internal company docs, </a:t>
            </a:r>
          </a:p>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or real-time databases).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EB607-D095-473B-22F8-CA1786E0943C}"/>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04C851E5-1310-6D3C-36F2-46CA942B3326}"/>
              </a:ext>
            </a:extLst>
          </p:cNvPr>
          <p:cNvSpPr/>
          <p:nvPr/>
        </p:nvSpPr>
        <p:spPr>
          <a:xfrm>
            <a:off x="642938" y="895648"/>
            <a:ext cx="7858125" cy="246221"/>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Problem Statement</a:t>
            </a:r>
            <a:endParaRPr lang="en-US" sz="1600" dirty="0"/>
          </a:p>
        </p:txBody>
      </p:sp>
      <p:sp>
        <p:nvSpPr>
          <p:cNvPr id="5" name="Text 1">
            <a:extLst>
              <a:ext uri="{FF2B5EF4-FFF2-40B4-BE49-F238E27FC236}">
                <a16:creationId xmlns:a16="http://schemas.microsoft.com/office/drawing/2014/main" id="{7FA143B6-407F-0398-5508-9BC901D1B9CB}"/>
              </a:ext>
            </a:extLst>
          </p:cNvPr>
          <p:cNvSpPr/>
          <p:nvPr/>
        </p:nvSpPr>
        <p:spPr>
          <a:xfrm>
            <a:off x="642938" y="1515368"/>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Semantic Drift:</a:t>
            </a:r>
            <a:endParaRPr lang="en-US" sz="1200" dirty="0"/>
          </a:p>
        </p:txBody>
      </p:sp>
      <p:sp>
        <p:nvSpPr>
          <p:cNvPr id="6" name="Text 2">
            <a:extLst>
              <a:ext uri="{FF2B5EF4-FFF2-40B4-BE49-F238E27FC236}">
                <a16:creationId xmlns:a16="http://schemas.microsoft.com/office/drawing/2014/main" id="{D05ADFAC-328D-533B-2299-B3657AF61D18}"/>
              </a:ext>
            </a:extLst>
          </p:cNvPr>
          <p:cNvSpPr/>
          <p:nvPr/>
        </p:nvSpPr>
        <p:spPr>
          <a:xfrm>
            <a:off x="857250" y="1783259"/>
            <a:ext cx="7643813" cy="180499"/>
          </a:xfrm>
          <a:prstGeom prst="rect">
            <a:avLst/>
          </a:prstGeom>
          <a:noFill/>
          <a:ln/>
        </p:spPr>
        <p:txBody>
          <a:bodyPr wrap="square" lIns="0" tIns="0" rIns="0" bIns="0" rtlCol="0" anchor="t">
            <a:spAutoFit/>
          </a:bodyPr>
          <a:lstStyle/>
          <a:p>
            <a:pPr marL="0" indent="0">
              <a:lnSpc>
                <a:spcPct val="120000"/>
              </a:lnSpc>
              <a:buNone/>
            </a:pPr>
            <a:r>
              <a:rPr lang="en-US" sz="1050" dirty="0">
                <a:solidFill>
                  <a:srgbClr val="2C3E50"/>
                </a:solidFill>
                <a:latin typeface="Work Sans" pitchFamily="34" charset="0"/>
                <a:ea typeface="Work Sans" pitchFamily="34" charset="-122"/>
                <a:cs typeface="Work Sans" pitchFamily="34" charset="-120"/>
              </a:rPr>
              <a:t>LLMs often lose the thread in long conversations (20+ turns).</a:t>
            </a:r>
            <a:endParaRPr lang="en-US" sz="1050" dirty="0"/>
          </a:p>
        </p:txBody>
      </p:sp>
      <p:sp>
        <p:nvSpPr>
          <p:cNvPr id="7" name="Text 3">
            <a:extLst>
              <a:ext uri="{FF2B5EF4-FFF2-40B4-BE49-F238E27FC236}">
                <a16:creationId xmlns:a16="http://schemas.microsoft.com/office/drawing/2014/main" id="{4245BA00-41D6-713A-7F85-6D7D4329DF3E}"/>
              </a:ext>
            </a:extLst>
          </p:cNvPr>
          <p:cNvSpPr/>
          <p:nvPr/>
        </p:nvSpPr>
        <p:spPr>
          <a:xfrm>
            <a:off x="642937" y="2226707"/>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Fact-Checking Gap:</a:t>
            </a:r>
            <a:endParaRPr lang="en-US" sz="1200" dirty="0"/>
          </a:p>
        </p:txBody>
      </p:sp>
      <p:sp>
        <p:nvSpPr>
          <p:cNvPr id="8" name="Text 4">
            <a:extLst>
              <a:ext uri="{FF2B5EF4-FFF2-40B4-BE49-F238E27FC236}">
                <a16:creationId xmlns:a16="http://schemas.microsoft.com/office/drawing/2014/main" id="{05AA99EB-49F8-D240-F371-2179136F08AB}"/>
              </a:ext>
            </a:extLst>
          </p:cNvPr>
          <p:cNvSpPr/>
          <p:nvPr/>
        </p:nvSpPr>
        <p:spPr>
          <a:xfrm>
            <a:off x="857250" y="2587687"/>
            <a:ext cx="5831725" cy="180499"/>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LLMs create "plausible lies" (hallucinations) because they prioritize grammar over truth.</a:t>
            </a:r>
            <a:endParaRPr lang="en-US" sz="1050" dirty="0"/>
          </a:p>
        </p:txBody>
      </p:sp>
      <p:sp>
        <p:nvSpPr>
          <p:cNvPr id="9" name="Text 5">
            <a:extLst>
              <a:ext uri="{FF2B5EF4-FFF2-40B4-BE49-F238E27FC236}">
                <a16:creationId xmlns:a16="http://schemas.microsoft.com/office/drawing/2014/main" id="{E385C2B6-193E-83DB-0079-39155C7B8D2F}"/>
              </a:ext>
            </a:extLst>
          </p:cNvPr>
          <p:cNvSpPr/>
          <p:nvPr/>
        </p:nvSpPr>
        <p:spPr>
          <a:xfrm>
            <a:off x="642936" y="3007537"/>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Stale Knowledge:</a:t>
            </a:r>
            <a:endParaRPr lang="en-US" sz="1200" dirty="0"/>
          </a:p>
        </p:txBody>
      </p:sp>
      <p:sp>
        <p:nvSpPr>
          <p:cNvPr id="10" name="Text 6">
            <a:extLst>
              <a:ext uri="{FF2B5EF4-FFF2-40B4-BE49-F238E27FC236}">
                <a16:creationId xmlns:a16="http://schemas.microsoft.com/office/drawing/2014/main" id="{6D95F04C-9852-F86E-E12D-853EC29E4391}"/>
              </a:ext>
            </a:extLst>
          </p:cNvPr>
          <p:cNvSpPr/>
          <p:nvPr/>
        </p:nvSpPr>
        <p:spPr>
          <a:xfrm>
            <a:off x="857248" y="3275427"/>
            <a:ext cx="6093015" cy="180499"/>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Traditional models cannot summarize events that happened after their training data cutoff.</a:t>
            </a:r>
            <a:endParaRPr lang="en-US" sz="1050" dirty="0"/>
          </a:p>
        </p:txBody>
      </p:sp>
      <p:sp>
        <p:nvSpPr>
          <p:cNvPr id="2" name="Text 5">
            <a:extLst>
              <a:ext uri="{FF2B5EF4-FFF2-40B4-BE49-F238E27FC236}">
                <a16:creationId xmlns:a16="http://schemas.microsoft.com/office/drawing/2014/main" id="{E3FC3E1C-CD5C-557A-D8C7-DCE7BFC938ED}"/>
              </a:ext>
            </a:extLst>
          </p:cNvPr>
          <p:cNvSpPr/>
          <p:nvPr/>
        </p:nvSpPr>
        <p:spPr>
          <a:xfrm>
            <a:off x="642935" y="3649385"/>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Goal:</a:t>
            </a:r>
            <a:endParaRPr lang="en-US" sz="1200" dirty="0"/>
          </a:p>
        </p:txBody>
      </p:sp>
      <p:sp>
        <p:nvSpPr>
          <p:cNvPr id="3" name="Text 6">
            <a:extLst>
              <a:ext uri="{FF2B5EF4-FFF2-40B4-BE49-F238E27FC236}">
                <a16:creationId xmlns:a16="http://schemas.microsoft.com/office/drawing/2014/main" id="{8CD3E58D-8698-AFBF-EE08-2D837502BD77}"/>
              </a:ext>
            </a:extLst>
          </p:cNvPr>
          <p:cNvSpPr/>
          <p:nvPr/>
        </p:nvSpPr>
        <p:spPr>
          <a:xfrm>
            <a:off x="857247" y="3985439"/>
            <a:ext cx="5761193" cy="180499"/>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How can we ensure a dialogue summary is both concise and 100% factually grounded?</a:t>
            </a:r>
            <a:endParaRPr lang="en-US" sz="1050" dirty="0"/>
          </a:p>
        </p:txBody>
      </p:sp>
    </p:spTree>
    <p:extLst>
      <p:ext uri="{BB962C8B-B14F-4D97-AF65-F5344CB8AC3E}">
        <p14:creationId xmlns:p14="http://schemas.microsoft.com/office/powerpoint/2010/main" val="4248725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27A20-AFDA-E1DE-BFD4-D7FB83E45CBA}"/>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4CEFCCC9-7A28-90E3-5FED-B2561157D376}"/>
              </a:ext>
            </a:extLst>
          </p:cNvPr>
          <p:cNvSpPr/>
          <p:nvPr/>
        </p:nvSpPr>
        <p:spPr>
          <a:xfrm>
            <a:off x="642938" y="895648"/>
            <a:ext cx="7858125" cy="246221"/>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Literature Review &amp; Gap Analysis</a:t>
            </a:r>
            <a:endParaRPr lang="en-US" sz="1600" dirty="0"/>
          </a:p>
        </p:txBody>
      </p:sp>
      <p:sp>
        <p:nvSpPr>
          <p:cNvPr id="5" name="Text 1">
            <a:extLst>
              <a:ext uri="{FF2B5EF4-FFF2-40B4-BE49-F238E27FC236}">
                <a16:creationId xmlns:a16="http://schemas.microsoft.com/office/drawing/2014/main" id="{04349EAC-29CC-DCF7-F582-131780C2711C}"/>
              </a:ext>
            </a:extLst>
          </p:cNvPr>
          <p:cNvSpPr/>
          <p:nvPr/>
        </p:nvSpPr>
        <p:spPr>
          <a:xfrm>
            <a:off x="642938" y="1515368"/>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Current Models:</a:t>
            </a:r>
            <a:endParaRPr lang="en-US" sz="1200" dirty="0"/>
          </a:p>
        </p:txBody>
      </p:sp>
      <p:sp>
        <p:nvSpPr>
          <p:cNvPr id="6" name="Text 2">
            <a:extLst>
              <a:ext uri="{FF2B5EF4-FFF2-40B4-BE49-F238E27FC236}">
                <a16:creationId xmlns:a16="http://schemas.microsoft.com/office/drawing/2014/main" id="{1D78EC9D-C6DD-402D-6B1E-05735DB63AAD}"/>
              </a:ext>
            </a:extLst>
          </p:cNvPr>
          <p:cNvSpPr/>
          <p:nvPr/>
        </p:nvSpPr>
        <p:spPr>
          <a:xfrm>
            <a:off x="857250" y="1783259"/>
            <a:ext cx="7643813" cy="180499"/>
          </a:xfrm>
          <a:prstGeom prst="rect">
            <a:avLst/>
          </a:prstGeom>
          <a:noFill/>
          <a:ln/>
        </p:spPr>
        <p:txBody>
          <a:bodyPr wrap="square" lIns="0" tIns="0" rIns="0" bIns="0" rtlCol="0" anchor="t">
            <a:spAutoFit/>
          </a:bodyPr>
          <a:lstStyle/>
          <a:p>
            <a:pPr marL="0" indent="0">
              <a:lnSpc>
                <a:spcPct val="120000"/>
              </a:lnSpc>
              <a:buNone/>
            </a:pPr>
            <a:r>
              <a:rPr lang="en-US" sz="1050" dirty="0">
                <a:solidFill>
                  <a:srgbClr val="2C3E50"/>
                </a:solidFill>
                <a:latin typeface="Work Sans" pitchFamily="34" charset="0"/>
                <a:ea typeface="Work Sans" pitchFamily="34" charset="-122"/>
                <a:cs typeface="Work Sans" pitchFamily="34" charset="-120"/>
              </a:rPr>
              <a:t>BART, T5, and GPT-3.5/4 are the current standards.</a:t>
            </a:r>
            <a:endParaRPr lang="en-US" sz="1050" dirty="0"/>
          </a:p>
        </p:txBody>
      </p:sp>
      <p:sp>
        <p:nvSpPr>
          <p:cNvPr id="7" name="Text 3">
            <a:extLst>
              <a:ext uri="{FF2B5EF4-FFF2-40B4-BE49-F238E27FC236}">
                <a16:creationId xmlns:a16="http://schemas.microsoft.com/office/drawing/2014/main" id="{068324C3-F7CA-E269-32C2-DA70751C7C59}"/>
              </a:ext>
            </a:extLst>
          </p:cNvPr>
          <p:cNvSpPr/>
          <p:nvPr/>
        </p:nvSpPr>
        <p:spPr>
          <a:xfrm>
            <a:off x="642937" y="2226707"/>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Limitations identified in literature:</a:t>
            </a:r>
            <a:endParaRPr lang="en-US" sz="1200" dirty="0"/>
          </a:p>
        </p:txBody>
      </p:sp>
      <p:sp>
        <p:nvSpPr>
          <p:cNvPr id="8" name="Text 4">
            <a:extLst>
              <a:ext uri="{FF2B5EF4-FFF2-40B4-BE49-F238E27FC236}">
                <a16:creationId xmlns:a16="http://schemas.microsoft.com/office/drawing/2014/main" id="{BD5B2DC4-EBFE-39EE-789D-8FD03EE7DFDE}"/>
              </a:ext>
            </a:extLst>
          </p:cNvPr>
          <p:cNvSpPr/>
          <p:nvPr/>
        </p:nvSpPr>
        <p:spPr>
          <a:xfrm>
            <a:off x="857250" y="2587687"/>
            <a:ext cx="6285375" cy="180499"/>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Standard models treat every dialogue as a standalone text, ignoring external world knowledge.</a:t>
            </a:r>
            <a:endParaRPr lang="en-US" sz="1050" dirty="0"/>
          </a:p>
        </p:txBody>
      </p:sp>
      <p:sp>
        <p:nvSpPr>
          <p:cNvPr id="10" name="Text 6">
            <a:extLst>
              <a:ext uri="{FF2B5EF4-FFF2-40B4-BE49-F238E27FC236}">
                <a16:creationId xmlns:a16="http://schemas.microsoft.com/office/drawing/2014/main" id="{DBE5594E-9448-1C0C-7181-D06B216E2C78}"/>
              </a:ext>
            </a:extLst>
          </p:cNvPr>
          <p:cNvSpPr/>
          <p:nvPr/>
        </p:nvSpPr>
        <p:spPr>
          <a:xfrm>
            <a:off x="857250" y="2919574"/>
            <a:ext cx="5039841" cy="180499"/>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Evaluation metrics (ROUGE) focus on word overlap, not factual correctness.</a:t>
            </a:r>
            <a:endParaRPr lang="en-US" sz="1050" dirty="0"/>
          </a:p>
        </p:txBody>
      </p:sp>
      <p:sp>
        <p:nvSpPr>
          <p:cNvPr id="2" name="Text 5">
            <a:extLst>
              <a:ext uri="{FF2B5EF4-FFF2-40B4-BE49-F238E27FC236}">
                <a16:creationId xmlns:a16="http://schemas.microsoft.com/office/drawing/2014/main" id="{6FB6E216-21FD-8143-5C68-3002048D7D9B}"/>
              </a:ext>
            </a:extLst>
          </p:cNvPr>
          <p:cNvSpPr/>
          <p:nvPr/>
        </p:nvSpPr>
        <p:spPr>
          <a:xfrm>
            <a:off x="642935" y="3311545"/>
            <a:ext cx="7858125" cy="184666"/>
          </a:xfrm>
          <a:prstGeom prst="rect">
            <a:avLst/>
          </a:prstGeom>
          <a:noFill/>
          <a:ln/>
        </p:spPr>
        <p:txBody>
          <a:bodyPr wrap="square" lIns="0" tIns="0" rIns="0" bIns="0" rtlCol="0" anchor="t">
            <a:spAutoFit/>
          </a:bodyPr>
          <a:lstStyle/>
          <a:p>
            <a:pPr marL="0" indent="0" algn="l">
              <a:buNone/>
            </a:pPr>
            <a:r>
              <a:rPr lang="en-US" sz="1200" dirty="0">
                <a:solidFill>
                  <a:srgbClr val="0F2537"/>
                </a:solidFill>
                <a:latin typeface="Work Sans SemiBold" pitchFamily="34" charset="0"/>
                <a:ea typeface="Work Sans SemiBold" pitchFamily="34" charset="-122"/>
                <a:cs typeface="Work Sans SemiBold" pitchFamily="34" charset="-120"/>
              </a:rPr>
              <a:t>The Gap:</a:t>
            </a:r>
            <a:endParaRPr lang="en-US" sz="1200" dirty="0"/>
          </a:p>
        </p:txBody>
      </p:sp>
      <p:sp>
        <p:nvSpPr>
          <p:cNvPr id="3" name="Text 6">
            <a:extLst>
              <a:ext uri="{FF2B5EF4-FFF2-40B4-BE49-F238E27FC236}">
                <a16:creationId xmlns:a16="http://schemas.microsoft.com/office/drawing/2014/main" id="{E0431E5D-9C86-85FF-9C48-0C081F4B7034}"/>
              </a:ext>
            </a:extLst>
          </p:cNvPr>
          <p:cNvSpPr/>
          <p:nvPr/>
        </p:nvSpPr>
        <p:spPr>
          <a:xfrm>
            <a:off x="857250" y="3643432"/>
            <a:ext cx="7296869" cy="374398"/>
          </a:xfrm>
          <a:prstGeom prst="rect">
            <a:avLst/>
          </a:prstGeom>
          <a:noFill/>
          <a:ln/>
        </p:spPr>
        <p:txBody>
          <a:bodyPr wrap="none" lIns="0" tIns="0" rIns="0" bIns="0" rtlCol="0" anchor="t">
            <a:spAutoFit/>
          </a:bodyPr>
          <a:lstStyle/>
          <a:p>
            <a:pPr marL="0" indent="0" algn="l">
              <a:lnSpc>
                <a:spcPct val="120000"/>
              </a:lnSpc>
              <a:buNone/>
            </a:pPr>
            <a:r>
              <a:rPr lang="en-US" sz="1050" dirty="0">
                <a:solidFill>
                  <a:srgbClr val="2C3E50"/>
                </a:solidFill>
                <a:latin typeface="Work Sans" pitchFamily="34" charset="0"/>
                <a:ea typeface="Work Sans" pitchFamily="34" charset="-122"/>
                <a:cs typeface="Work Sans" pitchFamily="34" charset="-120"/>
              </a:rPr>
              <a:t>There is a lack of unified frameworks that combine </a:t>
            </a:r>
          </a:p>
          <a:p>
            <a:pPr marL="0" indent="0" algn="l">
              <a:lnSpc>
                <a:spcPct val="120000"/>
              </a:lnSpc>
              <a:buNone/>
            </a:pPr>
            <a:r>
              <a:rPr lang="en-US" sz="1050" b="1" dirty="0">
                <a:solidFill>
                  <a:srgbClr val="2C3E50"/>
                </a:solidFill>
                <a:latin typeface="Work Sans" pitchFamily="34" charset="0"/>
                <a:ea typeface="Work Sans" pitchFamily="34" charset="-122"/>
                <a:cs typeface="Work Sans" pitchFamily="34" charset="-120"/>
              </a:rPr>
              <a:t>Dense Vector Retrieval</a:t>
            </a:r>
            <a:r>
              <a:rPr lang="en-US" sz="1050" dirty="0">
                <a:solidFill>
                  <a:srgbClr val="2C3E50"/>
                </a:solidFill>
                <a:latin typeface="Work Sans" pitchFamily="34" charset="0"/>
                <a:ea typeface="Work Sans" pitchFamily="34" charset="-122"/>
                <a:cs typeface="Work Sans" pitchFamily="34" charset="-120"/>
              </a:rPr>
              <a:t> with </a:t>
            </a:r>
            <a:r>
              <a:rPr lang="en-US" sz="1050" b="1" dirty="0">
                <a:solidFill>
                  <a:srgbClr val="2C3E50"/>
                </a:solidFill>
                <a:latin typeface="Work Sans" pitchFamily="34" charset="0"/>
                <a:ea typeface="Work Sans" pitchFamily="34" charset="-122"/>
                <a:cs typeface="Work Sans" pitchFamily="34" charset="-120"/>
              </a:rPr>
              <a:t>Instruction-tuned LLMs</a:t>
            </a:r>
            <a:r>
              <a:rPr lang="en-US" sz="1050" dirty="0">
                <a:solidFill>
                  <a:srgbClr val="2C3E50"/>
                </a:solidFill>
                <a:latin typeface="Work Sans" pitchFamily="34" charset="0"/>
                <a:ea typeface="Work Sans" pitchFamily="34" charset="-122"/>
                <a:cs typeface="Work Sans" pitchFamily="34" charset="-120"/>
              </a:rPr>
              <a:t> specifically for the nuances of multi-party dialogues.</a:t>
            </a:r>
            <a:endParaRPr lang="en-US" sz="1050" dirty="0"/>
          </a:p>
        </p:txBody>
      </p:sp>
    </p:spTree>
    <p:extLst>
      <p:ext uri="{BB962C8B-B14F-4D97-AF65-F5344CB8AC3E}">
        <p14:creationId xmlns:p14="http://schemas.microsoft.com/office/powerpoint/2010/main" val="3880677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E19A9-E2DC-D4C6-5E01-3F039DF5161C}"/>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434D9D79-EFF4-6F54-C13F-9F507A04AA50}"/>
              </a:ext>
            </a:extLst>
          </p:cNvPr>
          <p:cNvSpPr/>
          <p:nvPr/>
        </p:nvSpPr>
        <p:spPr>
          <a:xfrm>
            <a:off x="642938" y="895648"/>
            <a:ext cx="7858125" cy="246221"/>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537"/>
                </a:solidFill>
                <a:effectLst/>
                <a:uLnTx/>
                <a:uFillTx/>
                <a:latin typeface="Playfair Display Bold" pitchFamily="34" charset="0"/>
                <a:ea typeface="Playfair Display Bold" pitchFamily="34" charset="-122"/>
                <a:cs typeface="Playfair Display Bold" pitchFamily="34" charset="-120"/>
              </a:rPr>
              <a:t>Research Objectives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BBF53F65-D490-5A50-99D4-DB92A5E081BC}"/>
              </a:ext>
            </a:extLst>
          </p:cNvPr>
          <p:cNvSpPr/>
          <p:nvPr/>
        </p:nvSpPr>
        <p:spPr>
          <a:xfrm>
            <a:off x="642938" y="1515368"/>
            <a:ext cx="7858125" cy="18466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2537"/>
                </a:solidFill>
                <a:effectLst/>
                <a:uLnTx/>
                <a:uFillTx/>
                <a:latin typeface="Work Sans SemiBold" pitchFamily="34" charset="0"/>
                <a:ea typeface="Work Sans SemiBold" pitchFamily="34" charset="-122"/>
                <a:cs typeface="Work Sans SemiBold" pitchFamily="34" charset="-120"/>
              </a:rPr>
              <a:t>Framework Design: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a:extLst>
              <a:ext uri="{FF2B5EF4-FFF2-40B4-BE49-F238E27FC236}">
                <a16:creationId xmlns:a16="http://schemas.microsoft.com/office/drawing/2014/main" id="{46CA2E95-0F4C-B43E-E3B9-F009AFCBF5C4}"/>
              </a:ext>
            </a:extLst>
          </p:cNvPr>
          <p:cNvSpPr/>
          <p:nvPr/>
        </p:nvSpPr>
        <p:spPr>
          <a:xfrm>
            <a:off x="857250" y="1783259"/>
            <a:ext cx="7643813" cy="180499"/>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Develop a RAG-based pipeline that performs real-time semantic searches during the summarization process.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a:extLst>
              <a:ext uri="{FF2B5EF4-FFF2-40B4-BE49-F238E27FC236}">
                <a16:creationId xmlns:a16="http://schemas.microsoft.com/office/drawing/2014/main" id="{0C6FCAE9-958D-7709-96B2-B1B6827FF5C1}"/>
              </a:ext>
            </a:extLst>
          </p:cNvPr>
          <p:cNvSpPr/>
          <p:nvPr/>
        </p:nvSpPr>
        <p:spPr>
          <a:xfrm>
            <a:off x="642937" y="2226707"/>
            <a:ext cx="7858125" cy="18466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2537"/>
                </a:solidFill>
                <a:effectLst/>
                <a:uLnTx/>
                <a:uFillTx/>
                <a:latin typeface="Work Sans SemiBold" pitchFamily="34" charset="0"/>
                <a:ea typeface="Work Sans SemiBold" pitchFamily="34" charset="-122"/>
                <a:cs typeface="Work Sans SemiBold" pitchFamily="34" charset="-120"/>
              </a:rPr>
              <a:t>Noise Reduction: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a:extLst>
              <a:ext uri="{FF2B5EF4-FFF2-40B4-BE49-F238E27FC236}">
                <a16:creationId xmlns:a16="http://schemas.microsoft.com/office/drawing/2014/main" id="{815B04C4-B02A-B468-34CD-D4FB475F6359}"/>
              </a:ext>
            </a:extLst>
          </p:cNvPr>
          <p:cNvSpPr/>
          <p:nvPr/>
        </p:nvSpPr>
        <p:spPr>
          <a:xfrm>
            <a:off x="857250" y="2587687"/>
            <a:ext cx="7154203" cy="180499"/>
          </a:xfrm>
          <a:prstGeom prst="rect">
            <a:avLst/>
          </a:prstGeom>
          <a:noFill/>
          <a:ln/>
        </p:spPr>
        <p:txBody>
          <a:bodyPr wrap="non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Implement a "Filtering Layer" to remove non-essential dialogue chatter (filler words) before summarization.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a:extLst>
              <a:ext uri="{FF2B5EF4-FFF2-40B4-BE49-F238E27FC236}">
                <a16:creationId xmlns:a16="http://schemas.microsoft.com/office/drawing/2014/main" id="{BA5CD5FF-4BE8-B793-B1BA-11FCBA1D321E}"/>
              </a:ext>
            </a:extLst>
          </p:cNvPr>
          <p:cNvSpPr/>
          <p:nvPr/>
        </p:nvSpPr>
        <p:spPr>
          <a:xfrm>
            <a:off x="642936" y="3007537"/>
            <a:ext cx="7858125" cy="18466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2537"/>
                </a:solidFill>
                <a:effectLst/>
                <a:uLnTx/>
                <a:uFillTx/>
                <a:latin typeface="Work Sans SemiBold" pitchFamily="34" charset="0"/>
                <a:ea typeface="Work Sans SemiBold" pitchFamily="34" charset="-122"/>
                <a:cs typeface="Work Sans SemiBold" pitchFamily="34" charset="-120"/>
              </a:rPr>
              <a:t>Adaptive Retrieval: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a:extLst>
              <a:ext uri="{FF2B5EF4-FFF2-40B4-BE49-F238E27FC236}">
                <a16:creationId xmlns:a16="http://schemas.microsoft.com/office/drawing/2014/main" id="{4295C52B-F939-B396-821D-127EA70BB190}"/>
              </a:ext>
            </a:extLst>
          </p:cNvPr>
          <p:cNvSpPr/>
          <p:nvPr/>
        </p:nvSpPr>
        <p:spPr>
          <a:xfrm>
            <a:off x="857248" y="3275427"/>
            <a:ext cx="6521016" cy="180499"/>
          </a:xfrm>
          <a:prstGeom prst="rect">
            <a:avLst/>
          </a:prstGeom>
          <a:noFill/>
          <a:ln/>
        </p:spPr>
        <p:txBody>
          <a:bodyPr wrap="non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Ensure the model knows *when* to fetch external data and when to rely on the dialogue context.</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ext 5">
            <a:extLst>
              <a:ext uri="{FF2B5EF4-FFF2-40B4-BE49-F238E27FC236}">
                <a16:creationId xmlns:a16="http://schemas.microsoft.com/office/drawing/2014/main" id="{F6BDE8F3-3F61-3A3E-1F01-10E46EB52561}"/>
              </a:ext>
            </a:extLst>
          </p:cNvPr>
          <p:cNvSpPr/>
          <p:nvPr/>
        </p:nvSpPr>
        <p:spPr>
          <a:xfrm>
            <a:off x="642935" y="3649385"/>
            <a:ext cx="7858125" cy="18466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2537"/>
                </a:solidFill>
                <a:effectLst/>
                <a:uLnTx/>
                <a:uFillTx/>
                <a:latin typeface="Work Sans SemiBold" pitchFamily="34" charset="0"/>
                <a:ea typeface="Work Sans SemiBold" pitchFamily="34" charset="-122"/>
                <a:cs typeface="Work Sans SemiBold" pitchFamily="34" charset="-120"/>
              </a:rPr>
              <a:t>Benchmarking: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6">
            <a:extLst>
              <a:ext uri="{FF2B5EF4-FFF2-40B4-BE49-F238E27FC236}">
                <a16:creationId xmlns:a16="http://schemas.microsoft.com/office/drawing/2014/main" id="{ECE1D722-2D30-EFC5-BE84-E22E919630FA}"/>
              </a:ext>
            </a:extLst>
          </p:cNvPr>
          <p:cNvSpPr/>
          <p:nvPr/>
        </p:nvSpPr>
        <p:spPr>
          <a:xfrm>
            <a:off x="857247" y="3985439"/>
            <a:ext cx="5442195" cy="180499"/>
          </a:xfrm>
          <a:prstGeom prst="rect">
            <a:avLst/>
          </a:prstGeom>
          <a:noFill/>
          <a:ln/>
        </p:spPr>
        <p:txBody>
          <a:bodyPr wrap="non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Evaluate performance using both linguistic (ROUGE) and factual (</a:t>
            </a:r>
            <a:r>
              <a:rPr kumimoji="0" lang="en-US" sz="1050" b="0" i="0" u="none" strike="noStrike" kern="1200" cap="none" spc="0" normalizeH="0" baseline="0" noProof="0" dirty="0" err="1">
                <a:ln>
                  <a:noFill/>
                </a:ln>
                <a:solidFill>
                  <a:srgbClr val="2C3E50"/>
                </a:solidFill>
                <a:effectLst/>
                <a:uLnTx/>
                <a:uFillTx/>
                <a:latin typeface="Work Sans" pitchFamily="34" charset="0"/>
                <a:ea typeface="Work Sans" pitchFamily="34" charset="-122"/>
                <a:cs typeface="Work Sans" pitchFamily="34" charset="-120"/>
              </a:rPr>
              <a:t>FactCC</a:t>
            </a: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 metrics.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8784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4" name="Text 0"/>
          <p:cNvSpPr/>
          <p:nvPr/>
        </p:nvSpPr>
        <p:spPr>
          <a:xfrm>
            <a:off x="571500" y="428625"/>
            <a:ext cx="8001000" cy="246221"/>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Proposed Methodology (The Technical Core)</a:t>
            </a:r>
            <a:endParaRPr lang="en-US" sz="1600" dirty="0"/>
          </a:p>
        </p:txBody>
      </p:sp>
      <p:sp>
        <p:nvSpPr>
          <p:cNvPr id="5" name="Text 1"/>
          <p:cNvSpPr/>
          <p:nvPr/>
        </p:nvSpPr>
        <p:spPr>
          <a:xfrm>
            <a:off x="571500" y="1119783"/>
            <a:ext cx="3786188" cy="169277"/>
          </a:xfrm>
          <a:prstGeom prst="rect">
            <a:avLst/>
          </a:prstGeom>
          <a:noFill/>
          <a:ln/>
        </p:spPr>
        <p:txBody>
          <a:bodyPr wrap="square" lIns="0" tIns="0" rIns="0" bIns="0" rtlCol="0" anchor="t">
            <a:spAutoFit/>
          </a:bodyPr>
          <a:lstStyle/>
          <a:p>
            <a:pPr marL="0" indent="0" algn="l">
              <a:buNone/>
            </a:pPr>
            <a:r>
              <a:rPr lang="en-US" sz="1100" dirty="0">
                <a:solidFill>
                  <a:srgbClr val="D96C06"/>
                </a:solidFill>
                <a:latin typeface="Work Sans SemiBold" pitchFamily="34" charset="0"/>
                <a:ea typeface="Work Sans SemiBold" pitchFamily="34" charset="-122"/>
                <a:cs typeface="Work Sans SemiBold" pitchFamily="34" charset="-120"/>
              </a:rPr>
              <a:t>Input Processing:</a:t>
            </a:r>
            <a:endParaRPr lang="en-US" sz="1100" dirty="0"/>
          </a:p>
        </p:txBody>
      </p:sp>
      <p:sp>
        <p:nvSpPr>
          <p:cNvPr id="6" name="Text 2"/>
          <p:cNvSpPr/>
          <p:nvPr/>
        </p:nvSpPr>
        <p:spPr>
          <a:xfrm>
            <a:off x="785813" y="1409105"/>
            <a:ext cx="3012043" cy="359201"/>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Tokenization of multi-turn dialogues and speaker </a:t>
            </a:r>
          </a:p>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identification.</a:t>
            </a:r>
            <a:endParaRPr lang="en-US" sz="950" dirty="0"/>
          </a:p>
        </p:txBody>
      </p:sp>
      <p:sp>
        <p:nvSpPr>
          <p:cNvPr id="8" name="Text 4"/>
          <p:cNvSpPr/>
          <p:nvPr/>
        </p:nvSpPr>
        <p:spPr>
          <a:xfrm>
            <a:off x="571500" y="2049140"/>
            <a:ext cx="3786188" cy="169277"/>
          </a:xfrm>
          <a:prstGeom prst="rect">
            <a:avLst/>
          </a:prstGeom>
          <a:noFill/>
          <a:ln/>
        </p:spPr>
        <p:txBody>
          <a:bodyPr wrap="square" lIns="0" tIns="0" rIns="0" bIns="0" rtlCol="0" anchor="t">
            <a:spAutoFit/>
          </a:bodyPr>
          <a:lstStyle/>
          <a:p>
            <a:pPr marL="0" indent="0" algn="l">
              <a:buNone/>
            </a:pPr>
            <a:r>
              <a:rPr lang="en-US" sz="1100" dirty="0">
                <a:solidFill>
                  <a:srgbClr val="D96C06"/>
                </a:solidFill>
                <a:latin typeface="Work Sans SemiBold" pitchFamily="34" charset="0"/>
                <a:ea typeface="Work Sans SemiBold" pitchFamily="34" charset="-122"/>
                <a:cs typeface="Work Sans SemiBold" pitchFamily="34" charset="-120"/>
              </a:rPr>
              <a:t>Augmentation:</a:t>
            </a:r>
            <a:endParaRPr lang="en-US" sz="1100" dirty="0"/>
          </a:p>
        </p:txBody>
      </p:sp>
      <p:sp>
        <p:nvSpPr>
          <p:cNvPr id="9" name="Text 5"/>
          <p:cNvSpPr/>
          <p:nvPr/>
        </p:nvSpPr>
        <p:spPr>
          <a:xfrm>
            <a:off x="785813" y="2338462"/>
            <a:ext cx="3571875" cy="172098"/>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Injecting the retrieved "Knowledge Triples" into the prompt.</a:t>
            </a:r>
            <a:endParaRPr lang="en-US" sz="950" dirty="0"/>
          </a:p>
        </p:txBody>
      </p:sp>
      <p:sp>
        <p:nvSpPr>
          <p:cNvPr id="11" name="Text 7"/>
          <p:cNvSpPr/>
          <p:nvPr/>
        </p:nvSpPr>
        <p:spPr>
          <a:xfrm>
            <a:off x="4786313" y="1119783"/>
            <a:ext cx="3786188" cy="169277"/>
          </a:xfrm>
          <a:prstGeom prst="rect">
            <a:avLst/>
          </a:prstGeom>
          <a:noFill/>
          <a:ln/>
        </p:spPr>
        <p:txBody>
          <a:bodyPr wrap="square" lIns="0" tIns="0" rIns="0" bIns="0" rtlCol="0" anchor="t">
            <a:spAutoFit/>
          </a:bodyPr>
          <a:lstStyle/>
          <a:p>
            <a:pPr marL="0" indent="0" algn="l">
              <a:buNone/>
            </a:pPr>
            <a:r>
              <a:rPr lang="en-US" sz="1100" dirty="0">
                <a:solidFill>
                  <a:srgbClr val="D96C06"/>
                </a:solidFill>
                <a:latin typeface="Work Sans SemiBold" pitchFamily="34" charset="0"/>
                <a:ea typeface="Work Sans SemiBold" pitchFamily="34" charset="-122"/>
                <a:cs typeface="Work Sans SemiBold" pitchFamily="34" charset="-120"/>
              </a:rPr>
              <a:t>Retrieval Engine:</a:t>
            </a:r>
            <a:endParaRPr lang="en-US" sz="1100" dirty="0"/>
          </a:p>
        </p:txBody>
      </p:sp>
      <p:sp>
        <p:nvSpPr>
          <p:cNvPr id="12" name="Text 8"/>
          <p:cNvSpPr/>
          <p:nvPr/>
        </p:nvSpPr>
        <p:spPr>
          <a:xfrm>
            <a:off x="5000625" y="1409105"/>
            <a:ext cx="2545569" cy="17209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Query formulation from dialogue snippets.</a:t>
            </a:r>
            <a:endParaRPr lang="en-US" sz="950" dirty="0"/>
          </a:p>
        </p:txBody>
      </p:sp>
      <p:sp>
        <p:nvSpPr>
          <p:cNvPr id="13" name="Text 9"/>
          <p:cNvSpPr/>
          <p:nvPr/>
        </p:nvSpPr>
        <p:spPr>
          <a:xfrm>
            <a:off x="5000625" y="1700547"/>
            <a:ext cx="3387146" cy="359201"/>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Searching a </a:t>
            </a:r>
            <a:r>
              <a:rPr lang="en-US" sz="950" b="1" dirty="0">
                <a:solidFill>
                  <a:srgbClr val="2C3E50"/>
                </a:solidFill>
                <a:latin typeface="Work Sans" pitchFamily="34" charset="0"/>
                <a:ea typeface="Work Sans" pitchFamily="34" charset="-122"/>
                <a:cs typeface="Work Sans" pitchFamily="34" charset="-120"/>
              </a:rPr>
              <a:t>Vector Database (</a:t>
            </a:r>
            <a:r>
              <a:rPr lang="en-US" sz="950" b="1" dirty="0" err="1">
                <a:solidFill>
                  <a:srgbClr val="2C3E50"/>
                </a:solidFill>
                <a:latin typeface="Work Sans" pitchFamily="34" charset="0"/>
                <a:ea typeface="Work Sans" pitchFamily="34" charset="-122"/>
                <a:cs typeface="Work Sans" pitchFamily="34" charset="-120"/>
              </a:rPr>
              <a:t>ChromaDB</a:t>
            </a:r>
            <a:r>
              <a:rPr lang="en-US" sz="950" b="1" dirty="0">
                <a:solidFill>
                  <a:srgbClr val="2C3E50"/>
                </a:solidFill>
                <a:latin typeface="Work Sans" pitchFamily="34" charset="0"/>
                <a:ea typeface="Work Sans" pitchFamily="34" charset="-122"/>
                <a:cs typeface="Work Sans" pitchFamily="34" charset="-120"/>
              </a:rPr>
              <a:t>/FAISS)</a:t>
            </a:r>
            <a:r>
              <a:rPr lang="en-US" sz="950" dirty="0">
                <a:solidFill>
                  <a:srgbClr val="2C3E50"/>
                </a:solidFill>
                <a:latin typeface="Work Sans" pitchFamily="34" charset="0"/>
                <a:ea typeface="Work Sans" pitchFamily="34" charset="-122"/>
                <a:cs typeface="Work Sans" pitchFamily="34" charset="-120"/>
              </a:rPr>
              <a:t> using </a:t>
            </a:r>
          </a:p>
          <a:p>
            <a:pPr marL="0" indent="0" algn="l">
              <a:lnSpc>
                <a:spcPct val="128000"/>
              </a:lnSpc>
              <a:buNone/>
            </a:pPr>
            <a:r>
              <a:rPr lang="en-US" sz="950" b="1" dirty="0">
                <a:solidFill>
                  <a:srgbClr val="2C3E50"/>
                </a:solidFill>
                <a:latin typeface="Work Sans" pitchFamily="34" charset="0"/>
                <a:ea typeface="Work Sans" pitchFamily="34" charset="-122"/>
                <a:cs typeface="Work Sans" pitchFamily="34" charset="-120"/>
              </a:rPr>
              <a:t>Dense Passage Retrieval (DPR)</a:t>
            </a:r>
            <a:r>
              <a:rPr lang="en-US" sz="950" dirty="0">
                <a:solidFill>
                  <a:srgbClr val="2C3E50"/>
                </a:solidFill>
                <a:latin typeface="Work Sans" pitchFamily="34" charset="0"/>
                <a:ea typeface="Work Sans" pitchFamily="34" charset="-122"/>
                <a:cs typeface="Work Sans" pitchFamily="34" charset="-120"/>
              </a:rPr>
              <a:t>.</a:t>
            </a:r>
            <a:endParaRPr lang="en-US" sz="950" dirty="0"/>
          </a:p>
        </p:txBody>
      </p:sp>
      <p:sp>
        <p:nvSpPr>
          <p:cNvPr id="2" name="Text 7">
            <a:extLst>
              <a:ext uri="{FF2B5EF4-FFF2-40B4-BE49-F238E27FC236}">
                <a16:creationId xmlns:a16="http://schemas.microsoft.com/office/drawing/2014/main" id="{9E103946-D193-FFBF-EFAA-6279BCDAD26D}"/>
              </a:ext>
            </a:extLst>
          </p:cNvPr>
          <p:cNvSpPr/>
          <p:nvPr/>
        </p:nvSpPr>
        <p:spPr>
          <a:xfrm>
            <a:off x="4786312" y="2216256"/>
            <a:ext cx="3786188" cy="169277"/>
          </a:xfrm>
          <a:prstGeom prst="rect">
            <a:avLst/>
          </a:prstGeom>
          <a:noFill/>
          <a:ln/>
        </p:spPr>
        <p:txBody>
          <a:bodyPr wrap="square" lIns="0" tIns="0" rIns="0" bIns="0" rtlCol="0" anchor="t">
            <a:spAutoFit/>
          </a:bodyPr>
          <a:lstStyle/>
          <a:p>
            <a:pPr marL="0" indent="0" algn="l">
              <a:buNone/>
            </a:pPr>
            <a:r>
              <a:rPr lang="en-US" sz="1100" dirty="0">
                <a:solidFill>
                  <a:srgbClr val="D96C06"/>
                </a:solidFill>
                <a:latin typeface="Work Sans SemiBold" pitchFamily="34" charset="0"/>
                <a:ea typeface="Work Sans SemiBold" pitchFamily="34" charset="-122"/>
                <a:cs typeface="Work Sans SemiBold" pitchFamily="34" charset="-120"/>
              </a:rPr>
              <a:t>Generation:</a:t>
            </a:r>
            <a:endParaRPr lang="en-US" sz="1100" dirty="0"/>
          </a:p>
        </p:txBody>
      </p:sp>
      <p:sp>
        <p:nvSpPr>
          <p:cNvPr id="16" name="Text 5">
            <a:extLst>
              <a:ext uri="{FF2B5EF4-FFF2-40B4-BE49-F238E27FC236}">
                <a16:creationId xmlns:a16="http://schemas.microsoft.com/office/drawing/2014/main" id="{67583BBA-90BA-0B3E-7B79-243ED07BE32D}"/>
              </a:ext>
            </a:extLst>
          </p:cNvPr>
          <p:cNvSpPr/>
          <p:nvPr/>
        </p:nvSpPr>
        <p:spPr>
          <a:xfrm>
            <a:off x="5000626" y="2545735"/>
            <a:ext cx="3571875" cy="546303"/>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Using a Large Language Model (e.g., Llama-3-8B or Mistral) with </a:t>
            </a:r>
            <a:r>
              <a:rPr lang="en-US" sz="950" b="1" dirty="0" err="1">
                <a:solidFill>
                  <a:srgbClr val="2C3E50"/>
                </a:solidFill>
                <a:latin typeface="Work Sans" pitchFamily="34" charset="0"/>
                <a:ea typeface="Work Sans" pitchFamily="34" charset="-122"/>
                <a:cs typeface="Work Sans" pitchFamily="34" charset="-120"/>
              </a:rPr>
              <a:t>LoRA</a:t>
            </a:r>
            <a:r>
              <a:rPr lang="en-US" sz="950" b="1" dirty="0">
                <a:solidFill>
                  <a:srgbClr val="2C3E50"/>
                </a:solidFill>
                <a:latin typeface="Work Sans" pitchFamily="34" charset="0"/>
                <a:ea typeface="Work Sans" pitchFamily="34" charset="-122"/>
                <a:cs typeface="Work Sans" pitchFamily="34" charset="-120"/>
              </a:rPr>
              <a:t> (Low-Rank Adaptation)</a:t>
            </a:r>
            <a:r>
              <a:rPr lang="en-US" sz="950" dirty="0">
                <a:solidFill>
                  <a:srgbClr val="2C3E50"/>
                </a:solidFill>
                <a:latin typeface="Work Sans" pitchFamily="34" charset="0"/>
                <a:ea typeface="Work Sans" pitchFamily="34" charset="-122"/>
                <a:cs typeface="Work Sans" pitchFamily="34" charset="-120"/>
              </a:rPr>
              <a:t> for domain-specific fine-tuning.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428625"/>
            <a:ext cx="8286750" cy="262533"/>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System Architecture Overview</a:t>
            </a:r>
            <a:endParaRPr lang="en-US" sz="1600" dirty="0"/>
          </a:p>
        </p:txBody>
      </p:sp>
      <p:sp>
        <p:nvSpPr>
          <p:cNvPr id="5" name="Text 1"/>
          <p:cNvSpPr/>
          <p:nvPr/>
        </p:nvSpPr>
        <p:spPr>
          <a:xfrm>
            <a:off x="428625" y="1126927"/>
            <a:ext cx="2428875"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Input</a:t>
            </a:r>
            <a:endParaRPr lang="en-US" sz="1200" dirty="0"/>
          </a:p>
        </p:txBody>
      </p:sp>
      <p:sp>
        <p:nvSpPr>
          <p:cNvPr id="6" name="Text 2"/>
          <p:cNvSpPr/>
          <p:nvPr/>
        </p:nvSpPr>
        <p:spPr>
          <a:xfrm>
            <a:off x="428625" y="1396603"/>
            <a:ext cx="2428875" cy="192881"/>
          </a:xfrm>
          <a:prstGeom prst="rect">
            <a:avLst/>
          </a:prstGeom>
          <a:noFill/>
          <a:ln/>
        </p:spPr>
        <p:txBody>
          <a:bodyPr wrap="none" lIns="0" tIns="0" rIns="0" bIns="0" rtlCol="0" anchor="t">
            <a:spAutoFit/>
          </a:bodyPr>
          <a:lstStyle/>
          <a:p>
            <a:pPr marL="0" indent="0" algn="l">
              <a:lnSpc>
                <a:spcPct val="120000"/>
              </a:lnSpc>
              <a:buNone/>
            </a:pPr>
            <a:r>
              <a:rPr lang="en-US" sz="950" dirty="0">
                <a:solidFill>
                  <a:srgbClr val="2C3E50"/>
                </a:solidFill>
                <a:latin typeface="Work Sans" pitchFamily="34" charset="0"/>
                <a:ea typeface="Work Sans" pitchFamily="34" charset="-122"/>
                <a:cs typeface="Work Sans" pitchFamily="34" charset="-120"/>
              </a:rPr>
              <a:t>Multi-turn User Dialogue.</a:t>
            </a:r>
            <a:endParaRPr lang="en-US" sz="950" dirty="0"/>
          </a:p>
        </p:txBody>
      </p:sp>
      <p:sp>
        <p:nvSpPr>
          <p:cNvPr id="7" name="Text 3"/>
          <p:cNvSpPr/>
          <p:nvPr/>
        </p:nvSpPr>
        <p:spPr>
          <a:xfrm>
            <a:off x="3143250" y="1126927"/>
            <a:ext cx="2428875"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Encoder</a:t>
            </a:r>
            <a:endParaRPr lang="en-US" sz="1200" dirty="0"/>
          </a:p>
        </p:txBody>
      </p:sp>
      <p:sp>
        <p:nvSpPr>
          <p:cNvPr id="8" name="Text 4"/>
          <p:cNvSpPr/>
          <p:nvPr/>
        </p:nvSpPr>
        <p:spPr>
          <a:xfrm>
            <a:off x="3143250" y="1396603"/>
            <a:ext cx="2428875"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2C3E50"/>
                </a:solidFill>
                <a:latin typeface="Work Sans" pitchFamily="34" charset="0"/>
                <a:ea typeface="Work Sans" pitchFamily="34" charset="-122"/>
                <a:cs typeface="Work Sans" pitchFamily="34" charset="-120"/>
              </a:rPr>
              <a:t>Transformer-based Bi-Encoder for embedding.</a:t>
            </a:r>
            <a:endParaRPr lang="en-US" sz="950" dirty="0"/>
          </a:p>
        </p:txBody>
      </p:sp>
      <p:sp>
        <p:nvSpPr>
          <p:cNvPr id="9" name="Text 5"/>
          <p:cNvSpPr/>
          <p:nvPr/>
        </p:nvSpPr>
        <p:spPr>
          <a:xfrm>
            <a:off x="5857875" y="1126927"/>
            <a:ext cx="2428875"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Knowledge Base</a:t>
            </a:r>
            <a:endParaRPr lang="en-US" sz="1200" dirty="0"/>
          </a:p>
        </p:txBody>
      </p:sp>
      <p:sp>
        <p:nvSpPr>
          <p:cNvPr id="10" name="Text 6"/>
          <p:cNvSpPr/>
          <p:nvPr/>
        </p:nvSpPr>
        <p:spPr>
          <a:xfrm>
            <a:off x="5857875" y="1396603"/>
            <a:ext cx="2428875"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2C3E50"/>
                </a:solidFill>
                <a:latin typeface="Work Sans" pitchFamily="34" charset="0"/>
                <a:ea typeface="Work Sans" pitchFamily="34" charset="-122"/>
                <a:cs typeface="Work Sans" pitchFamily="34" charset="-120"/>
              </a:rPr>
              <a:t>Integrated external unstructured/structured data.</a:t>
            </a:r>
            <a:endParaRPr lang="en-US" sz="950" dirty="0"/>
          </a:p>
        </p:txBody>
      </p:sp>
      <p:sp>
        <p:nvSpPr>
          <p:cNvPr id="11" name="Text 7"/>
          <p:cNvSpPr/>
          <p:nvPr/>
        </p:nvSpPr>
        <p:spPr>
          <a:xfrm>
            <a:off x="428625" y="2796778"/>
            <a:ext cx="2428875"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Fusion Layer</a:t>
            </a:r>
            <a:endParaRPr lang="en-US" sz="1200" dirty="0"/>
          </a:p>
        </p:txBody>
      </p:sp>
      <p:sp>
        <p:nvSpPr>
          <p:cNvPr id="12" name="Text 8"/>
          <p:cNvSpPr/>
          <p:nvPr/>
        </p:nvSpPr>
        <p:spPr>
          <a:xfrm>
            <a:off x="428625" y="3066455"/>
            <a:ext cx="2428875"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2C3E50"/>
                </a:solidFill>
                <a:latin typeface="Work Sans" pitchFamily="34" charset="0"/>
                <a:ea typeface="Work Sans" pitchFamily="34" charset="-122"/>
                <a:cs typeface="Work Sans" pitchFamily="34" charset="-120"/>
              </a:rPr>
              <a:t>Combines dialogue context + retrieved context.</a:t>
            </a:r>
            <a:endParaRPr lang="en-US" sz="950" dirty="0"/>
          </a:p>
        </p:txBody>
      </p:sp>
      <p:sp>
        <p:nvSpPr>
          <p:cNvPr id="13" name="Text 9"/>
          <p:cNvSpPr/>
          <p:nvPr/>
        </p:nvSpPr>
        <p:spPr>
          <a:xfrm>
            <a:off x="3143250" y="2796778"/>
            <a:ext cx="2428875"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Decoder</a:t>
            </a:r>
            <a:endParaRPr lang="en-US" sz="1200" dirty="0"/>
          </a:p>
        </p:txBody>
      </p:sp>
      <p:sp>
        <p:nvSpPr>
          <p:cNvPr id="14" name="Text 10"/>
          <p:cNvSpPr/>
          <p:nvPr/>
        </p:nvSpPr>
        <p:spPr>
          <a:xfrm>
            <a:off x="3143250" y="3066455"/>
            <a:ext cx="2428875"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2C3E50"/>
                </a:solidFill>
                <a:latin typeface="Work Sans" pitchFamily="34" charset="0"/>
                <a:ea typeface="Work Sans" pitchFamily="34" charset="-122"/>
                <a:cs typeface="Work Sans" pitchFamily="34" charset="-120"/>
              </a:rPr>
              <a:t>Generates the final grounded summary.</a:t>
            </a:r>
            <a:endParaRPr lang="en-US" sz="950" dirty="0"/>
          </a:p>
        </p:txBody>
      </p:sp>
      <p:sp>
        <p:nvSpPr>
          <p:cNvPr id="15" name="Text 11"/>
          <p:cNvSpPr/>
          <p:nvPr/>
        </p:nvSpPr>
        <p:spPr>
          <a:xfrm>
            <a:off x="5857875" y="2796778"/>
            <a:ext cx="2428875"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Verifier</a:t>
            </a:r>
            <a:endParaRPr lang="en-US" sz="1200" dirty="0"/>
          </a:p>
        </p:txBody>
      </p:sp>
      <p:sp>
        <p:nvSpPr>
          <p:cNvPr id="16" name="Text 12"/>
          <p:cNvSpPr/>
          <p:nvPr/>
        </p:nvSpPr>
        <p:spPr>
          <a:xfrm>
            <a:off x="5857875" y="3066455"/>
            <a:ext cx="2428875" cy="385763"/>
          </a:xfrm>
          <a:prstGeom prst="rect">
            <a:avLst/>
          </a:prstGeom>
          <a:noFill/>
          <a:ln/>
        </p:spPr>
        <p:txBody>
          <a:bodyPr wrap="square" lIns="0" tIns="0" rIns="0" bIns="0" rtlCol="0" anchor="t">
            <a:spAutoFit/>
          </a:bodyPr>
          <a:lstStyle/>
          <a:p>
            <a:pPr marL="0" indent="0" algn="l">
              <a:lnSpc>
                <a:spcPct val="120000"/>
              </a:lnSpc>
              <a:buNone/>
            </a:pPr>
            <a:r>
              <a:rPr lang="en-US" sz="950" dirty="0">
                <a:solidFill>
                  <a:srgbClr val="2C3E50"/>
                </a:solidFill>
                <a:latin typeface="Work Sans" pitchFamily="34" charset="0"/>
                <a:ea typeface="Work Sans" pitchFamily="34" charset="-122"/>
                <a:cs typeface="Work Sans" pitchFamily="34" charset="-120"/>
              </a:rPr>
              <a:t>A secondary check for factual consistency.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571500" y="428625"/>
            <a:ext cx="8001000" cy="262533"/>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Datasets &amp; Evaluation Framework</a:t>
            </a:r>
            <a:endParaRPr lang="en-US" sz="1600" dirty="0"/>
          </a:p>
        </p:txBody>
      </p:sp>
      <p:sp>
        <p:nvSpPr>
          <p:cNvPr id="5" name="Text 1"/>
          <p:cNvSpPr/>
          <p:nvPr/>
        </p:nvSpPr>
        <p:spPr>
          <a:xfrm>
            <a:off x="571500" y="1055489"/>
            <a:ext cx="3840463" cy="184666"/>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Datasets Prepared</a:t>
            </a:r>
            <a:endParaRPr lang="en-US" sz="1200" dirty="0"/>
          </a:p>
        </p:txBody>
      </p:sp>
      <p:sp>
        <p:nvSpPr>
          <p:cNvPr id="6" name="Text 2"/>
          <p:cNvSpPr/>
          <p:nvPr/>
        </p:nvSpPr>
        <p:spPr>
          <a:xfrm>
            <a:off x="785813" y="1396603"/>
            <a:ext cx="362615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DialogSum: Optimized for general multi-party conversations and turn-taking dynamics.</a:t>
            </a:r>
            <a:endParaRPr lang="en-US" sz="950" dirty="0"/>
          </a:p>
        </p:txBody>
      </p:sp>
      <p:sp>
        <p:nvSpPr>
          <p:cNvPr id="7" name="Text 3"/>
          <p:cNvSpPr/>
          <p:nvPr/>
        </p:nvSpPr>
        <p:spPr>
          <a:xfrm>
            <a:off x="785813" y="1893763"/>
            <a:ext cx="362615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MediaSum: Focused on news and interview-style dialogues with high factual density.</a:t>
            </a:r>
            <a:endParaRPr lang="en-US" sz="950" dirty="0"/>
          </a:p>
        </p:txBody>
      </p:sp>
      <p:sp>
        <p:nvSpPr>
          <p:cNvPr id="8" name="Text 4"/>
          <p:cNvSpPr/>
          <p:nvPr/>
        </p:nvSpPr>
        <p:spPr>
          <a:xfrm>
            <a:off x="785813" y="2390924"/>
            <a:ext cx="362615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Custom Knowledge Base: Integrated Wikipedia dumps and specialized domain documentation for RAG grounding.</a:t>
            </a:r>
            <a:endParaRPr lang="en-US" sz="950" dirty="0"/>
          </a:p>
        </p:txBody>
      </p:sp>
      <p:sp>
        <p:nvSpPr>
          <p:cNvPr id="9" name="Text 5"/>
          <p:cNvSpPr/>
          <p:nvPr/>
        </p:nvSpPr>
        <p:spPr>
          <a:xfrm>
            <a:off x="4732037" y="1055489"/>
            <a:ext cx="3840463"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Evaluation Metrics Defined</a:t>
            </a:r>
            <a:endParaRPr lang="en-US" sz="1200" dirty="0"/>
          </a:p>
        </p:txBody>
      </p:sp>
      <p:sp>
        <p:nvSpPr>
          <p:cNvPr id="10" name="Text 6"/>
          <p:cNvSpPr/>
          <p:nvPr/>
        </p:nvSpPr>
        <p:spPr>
          <a:xfrm>
            <a:off x="4946349" y="1396603"/>
            <a:ext cx="362615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Standard Metrics: ROUGE-1, ROUGE-2, and ROUGE-L for linguistic fluency and overlap.</a:t>
            </a:r>
            <a:endParaRPr lang="en-US" sz="950" dirty="0"/>
          </a:p>
        </p:txBody>
      </p:sp>
      <p:sp>
        <p:nvSpPr>
          <p:cNvPr id="11" name="Text 7"/>
          <p:cNvSpPr/>
          <p:nvPr/>
        </p:nvSpPr>
        <p:spPr>
          <a:xfrm>
            <a:off x="4946349" y="1893763"/>
            <a:ext cx="362615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Knowledge Metrics: Entity Precision and Factual Consistency (FactCC) via NLI models.</a:t>
            </a:r>
            <a:endParaRPr lang="en-US" sz="950" dirty="0"/>
          </a:p>
        </p:txBody>
      </p:sp>
      <p:sp>
        <p:nvSpPr>
          <p:cNvPr id="12" name="Text 8"/>
          <p:cNvSpPr/>
          <p:nvPr/>
        </p:nvSpPr>
        <p:spPr>
          <a:xfrm>
            <a:off x="4946349" y="2390924"/>
            <a:ext cx="3626151"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Human Evaluation: Expert qualitative rating on Informativeness and Conciseness.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AD18-5D0F-982A-6123-A73884F36B85}"/>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3B23616B-8688-7213-AD7A-313F5FDBE0DE}"/>
              </a:ext>
            </a:extLst>
          </p:cNvPr>
          <p:cNvSpPr/>
          <p:nvPr/>
        </p:nvSpPr>
        <p:spPr>
          <a:xfrm>
            <a:off x="642938" y="895648"/>
            <a:ext cx="7858125" cy="246221"/>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F2537"/>
                </a:solidFill>
                <a:effectLst/>
                <a:uLnTx/>
                <a:uFillTx/>
                <a:latin typeface="Playfair Display Bold" pitchFamily="34" charset="0"/>
                <a:ea typeface="Playfair Display Bold" pitchFamily="34" charset="-122"/>
                <a:cs typeface="Playfair Display Bold" pitchFamily="34" charset="-120"/>
              </a:rPr>
              <a:t>Anticipated Novelty &amp; Contribution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56274760-1ADE-D89F-D16E-0A1332C59442}"/>
              </a:ext>
            </a:extLst>
          </p:cNvPr>
          <p:cNvSpPr/>
          <p:nvPr/>
        </p:nvSpPr>
        <p:spPr>
          <a:xfrm>
            <a:off x="642938" y="1515368"/>
            <a:ext cx="7858125" cy="18466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2537"/>
                </a:solidFill>
                <a:effectLst/>
                <a:uLnTx/>
                <a:uFillTx/>
                <a:latin typeface="Work Sans SemiBold" pitchFamily="34" charset="0"/>
                <a:ea typeface="Work Sans SemiBold" pitchFamily="34" charset="-122"/>
                <a:cs typeface="Work Sans SemiBold" pitchFamily="34" charset="-120"/>
              </a:rPr>
              <a:t>Dynamic Contextualization: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2">
            <a:extLst>
              <a:ext uri="{FF2B5EF4-FFF2-40B4-BE49-F238E27FC236}">
                <a16:creationId xmlns:a16="http://schemas.microsoft.com/office/drawing/2014/main" id="{A066C446-78A3-18B8-F637-4E91A4E879DC}"/>
              </a:ext>
            </a:extLst>
          </p:cNvPr>
          <p:cNvSpPr/>
          <p:nvPr/>
        </p:nvSpPr>
        <p:spPr>
          <a:xfrm>
            <a:off x="857250" y="1783259"/>
            <a:ext cx="7643813" cy="180499"/>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Unlike static summarizers, this framework adapts to the "outside world."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3">
            <a:extLst>
              <a:ext uri="{FF2B5EF4-FFF2-40B4-BE49-F238E27FC236}">
                <a16:creationId xmlns:a16="http://schemas.microsoft.com/office/drawing/2014/main" id="{20DEFBDB-6764-1E4E-4621-67B18EC166FC}"/>
              </a:ext>
            </a:extLst>
          </p:cNvPr>
          <p:cNvSpPr/>
          <p:nvPr/>
        </p:nvSpPr>
        <p:spPr>
          <a:xfrm>
            <a:off x="642937" y="2226707"/>
            <a:ext cx="7858125" cy="18466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2537"/>
                </a:solidFill>
                <a:effectLst/>
                <a:uLnTx/>
                <a:uFillTx/>
                <a:latin typeface="Work Sans SemiBold" pitchFamily="34" charset="0"/>
                <a:ea typeface="Work Sans SemiBold" pitchFamily="34" charset="-122"/>
                <a:cs typeface="Work Sans SemiBold" pitchFamily="34" charset="-120"/>
              </a:rPr>
              <a:t>Unified Pipeline: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a:extLst>
              <a:ext uri="{FF2B5EF4-FFF2-40B4-BE49-F238E27FC236}">
                <a16:creationId xmlns:a16="http://schemas.microsoft.com/office/drawing/2014/main" id="{E311DC2F-2254-949F-77E4-D7708AADDB7E}"/>
              </a:ext>
            </a:extLst>
          </p:cNvPr>
          <p:cNvSpPr/>
          <p:nvPr/>
        </p:nvSpPr>
        <p:spPr>
          <a:xfrm>
            <a:off x="857250" y="2587687"/>
            <a:ext cx="7484421" cy="180499"/>
          </a:xfrm>
          <a:prstGeom prst="rect">
            <a:avLst/>
          </a:prstGeom>
          <a:noFill/>
          <a:ln/>
        </p:spPr>
        <p:txBody>
          <a:bodyPr wrap="non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Merging Information Retrieval (IR) and Generative AI (GenAI) into a single, cohesive </a:t>
            </a:r>
            <a:r>
              <a:rPr kumimoji="0" lang="en-US" sz="1050" b="0" i="0" u="none" strike="noStrike" kern="1200" cap="none" spc="0" normalizeH="0" baseline="0" noProof="0" dirty="0" err="1">
                <a:ln>
                  <a:noFill/>
                </a:ln>
                <a:solidFill>
                  <a:srgbClr val="2C3E50"/>
                </a:solidFill>
                <a:effectLst/>
                <a:uLnTx/>
                <a:uFillTx/>
                <a:latin typeface="Work Sans" pitchFamily="34" charset="0"/>
                <a:ea typeface="Work Sans" pitchFamily="34" charset="-122"/>
                <a:cs typeface="Work Sans" pitchFamily="34" charset="-120"/>
              </a:rPr>
              <a:t>M.Tech</a:t>
            </a: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-level implementation.</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5">
            <a:extLst>
              <a:ext uri="{FF2B5EF4-FFF2-40B4-BE49-F238E27FC236}">
                <a16:creationId xmlns:a16="http://schemas.microsoft.com/office/drawing/2014/main" id="{5873D2FF-8CCB-C0F5-8165-C48C01BEDEF3}"/>
              </a:ext>
            </a:extLst>
          </p:cNvPr>
          <p:cNvSpPr/>
          <p:nvPr/>
        </p:nvSpPr>
        <p:spPr>
          <a:xfrm>
            <a:off x="642936" y="3007537"/>
            <a:ext cx="7858125" cy="184666"/>
          </a:xfrm>
          <a:prstGeom prst="rect">
            <a:avLst/>
          </a:prstGeom>
          <a:noFill/>
          <a:ln/>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2537"/>
                </a:solidFill>
                <a:effectLst/>
                <a:uLnTx/>
                <a:uFillTx/>
                <a:latin typeface="Work Sans SemiBold" pitchFamily="34" charset="0"/>
                <a:ea typeface="Work Sans SemiBold" pitchFamily="34" charset="-122"/>
                <a:cs typeface="Work Sans SemiBold" pitchFamily="34" charset="-120"/>
              </a:rPr>
              <a:t>Reduced Hallucination: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6">
            <a:extLst>
              <a:ext uri="{FF2B5EF4-FFF2-40B4-BE49-F238E27FC236}">
                <a16:creationId xmlns:a16="http://schemas.microsoft.com/office/drawing/2014/main" id="{8B34C210-8F99-75F2-72D1-B619945FEDFC}"/>
              </a:ext>
            </a:extLst>
          </p:cNvPr>
          <p:cNvSpPr/>
          <p:nvPr/>
        </p:nvSpPr>
        <p:spPr>
          <a:xfrm>
            <a:off x="857248" y="3275427"/>
            <a:ext cx="5142433" cy="180499"/>
          </a:xfrm>
          <a:prstGeom prst="rect">
            <a:avLst/>
          </a:prstGeom>
          <a:noFill/>
          <a:ln/>
        </p:spPr>
        <p:txBody>
          <a:bodyPr wrap="none" lIns="0" tIns="0" rIns="0" bIns="0" rtlCol="0" anchor="t">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2C3E50"/>
                </a:solidFill>
                <a:effectLst/>
                <a:uLnTx/>
                <a:uFillTx/>
                <a:latin typeface="Work Sans" pitchFamily="34" charset="0"/>
                <a:ea typeface="Work Sans" pitchFamily="34" charset="-122"/>
                <a:cs typeface="Work Sans" pitchFamily="34" charset="-120"/>
              </a:rPr>
              <a:t>A significant step toward trustworthy AI in sensitive domains (Finance/Legal).</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28442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428625" y="785506"/>
            <a:ext cx="8286750" cy="262533"/>
          </a:xfrm>
          <a:prstGeom prst="rect">
            <a:avLst/>
          </a:prstGeom>
          <a:noFill/>
          <a:ln/>
        </p:spPr>
        <p:txBody>
          <a:bodyPr wrap="square" lIns="0" tIns="0" rIns="0" bIns="0" rtlCol="0" anchor="t">
            <a:spAutoFit/>
          </a:bodyPr>
          <a:lstStyle/>
          <a:p>
            <a:pPr marL="0" indent="0" algn="l">
              <a:buNone/>
            </a:pPr>
            <a:r>
              <a:rPr lang="en-US" sz="1600" b="1" dirty="0">
                <a:solidFill>
                  <a:srgbClr val="0F2537"/>
                </a:solidFill>
                <a:latin typeface="Playfair Display Bold" pitchFamily="34" charset="0"/>
                <a:ea typeface="Playfair Display Bold" pitchFamily="34" charset="-122"/>
                <a:cs typeface="Playfair Display Bold" pitchFamily="34" charset="-120"/>
              </a:rPr>
              <a:t>Conclusion &amp; Next Steps</a:t>
            </a:r>
            <a:endParaRPr lang="en-US" sz="1600" dirty="0"/>
          </a:p>
        </p:txBody>
      </p:sp>
      <p:sp>
        <p:nvSpPr>
          <p:cNvPr id="5" name="Text 1"/>
          <p:cNvSpPr/>
          <p:nvPr/>
        </p:nvSpPr>
        <p:spPr>
          <a:xfrm>
            <a:off x="428625" y="1333788"/>
            <a:ext cx="6429375" cy="754363"/>
          </a:xfrm>
          <a:prstGeom prst="rect">
            <a:avLst/>
          </a:prstGeom>
          <a:noFill/>
          <a:ln/>
        </p:spPr>
        <p:txBody>
          <a:bodyPr wrap="square" lIns="0" tIns="0" rIns="0" bIns="0" rtlCol="0" anchor="t">
            <a:spAutoFit/>
          </a:bodyPr>
          <a:lstStyle/>
          <a:p>
            <a:pPr marL="0" indent="0" algn="l">
              <a:lnSpc>
                <a:spcPct val="128000"/>
              </a:lnSpc>
              <a:buNone/>
            </a:pPr>
            <a:r>
              <a:rPr lang="en-US" sz="1150" i="1" dirty="0">
                <a:solidFill>
                  <a:srgbClr val="2C3E50"/>
                </a:solidFill>
                <a:latin typeface="Work Sans" pitchFamily="34" charset="0"/>
                <a:ea typeface="Work Sans" pitchFamily="34" charset="-122"/>
                <a:cs typeface="Work Sans" pitchFamily="34" charset="-120"/>
              </a:rPr>
              <a:t>The framework is currently on track to deliver a scalable solution for accurate, real-time dialogue intelligence, significantly mitigating the risk of AI hallucinations in multi-turn conversations.</a:t>
            </a:r>
            <a:endParaRPr lang="en-US" sz="1150" dirty="0"/>
          </a:p>
        </p:txBody>
      </p:sp>
      <p:sp>
        <p:nvSpPr>
          <p:cNvPr id="6" name="Text 2"/>
          <p:cNvSpPr/>
          <p:nvPr/>
        </p:nvSpPr>
        <p:spPr>
          <a:xfrm>
            <a:off x="428625" y="2666795"/>
            <a:ext cx="3643313"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Immediate Next Steps</a:t>
            </a:r>
            <a:endParaRPr lang="en-US" sz="1200" dirty="0"/>
          </a:p>
        </p:txBody>
      </p:sp>
      <p:sp>
        <p:nvSpPr>
          <p:cNvPr id="7" name="Text 3"/>
          <p:cNvSpPr/>
          <p:nvPr/>
        </p:nvSpPr>
        <p:spPr>
          <a:xfrm>
            <a:off x="642938" y="3007909"/>
            <a:ext cx="3429000"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Initiate domain-specific fine-tuning using Low-Rank Adaptation (LoRA).</a:t>
            </a:r>
            <a:endParaRPr lang="en-US" sz="950" dirty="0"/>
          </a:p>
        </p:txBody>
      </p:sp>
      <p:sp>
        <p:nvSpPr>
          <p:cNvPr id="8" name="Text 4"/>
          <p:cNvSpPr/>
          <p:nvPr/>
        </p:nvSpPr>
        <p:spPr>
          <a:xfrm>
            <a:off x="642938" y="3526501"/>
            <a:ext cx="3429000"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Begin preliminary performance testing on the DialogSum dataset.</a:t>
            </a:r>
            <a:endParaRPr lang="en-US" sz="950" dirty="0"/>
          </a:p>
        </p:txBody>
      </p:sp>
      <p:sp>
        <p:nvSpPr>
          <p:cNvPr id="9" name="Text 5"/>
          <p:cNvSpPr/>
          <p:nvPr/>
        </p:nvSpPr>
        <p:spPr>
          <a:xfrm>
            <a:off x="642938" y="4045093"/>
            <a:ext cx="3257885"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Refine the "Filtering Layer" for enhanced noise reduction.</a:t>
            </a:r>
            <a:endParaRPr lang="en-US" sz="950" dirty="0"/>
          </a:p>
        </p:txBody>
      </p:sp>
      <p:sp>
        <p:nvSpPr>
          <p:cNvPr id="10" name="Text 6"/>
          <p:cNvSpPr/>
          <p:nvPr/>
        </p:nvSpPr>
        <p:spPr>
          <a:xfrm>
            <a:off x="4643438" y="2666795"/>
            <a:ext cx="3643313" cy="198239"/>
          </a:xfrm>
          <a:prstGeom prst="rect">
            <a:avLst/>
          </a:prstGeom>
          <a:noFill/>
          <a:ln/>
        </p:spPr>
        <p:txBody>
          <a:bodyPr wrap="square" lIns="0" tIns="0" rIns="0" bIns="0" rtlCol="0" anchor="t">
            <a:spAutoFit/>
          </a:bodyPr>
          <a:lstStyle/>
          <a:p>
            <a:pPr marL="0" indent="0" algn="l">
              <a:buNone/>
            </a:pPr>
            <a:r>
              <a:rPr lang="en-US" sz="1200" b="1" dirty="0">
                <a:solidFill>
                  <a:srgbClr val="0F2537"/>
                </a:solidFill>
                <a:latin typeface="Playfair Display Bold" pitchFamily="34" charset="0"/>
                <a:ea typeface="Playfair Display Bold" pitchFamily="34" charset="-122"/>
                <a:cs typeface="Playfair Display Bold" pitchFamily="34" charset="-120"/>
              </a:rPr>
              <a:t>Future Scope</a:t>
            </a:r>
            <a:endParaRPr lang="en-US" sz="1200" dirty="0"/>
          </a:p>
        </p:txBody>
      </p:sp>
      <p:sp>
        <p:nvSpPr>
          <p:cNvPr id="11" name="Text 7"/>
          <p:cNvSpPr/>
          <p:nvPr/>
        </p:nvSpPr>
        <p:spPr>
          <a:xfrm>
            <a:off x="4857750" y="3007909"/>
            <a:ext cx="3429000"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Extending the framework to Multimodal Retrieval for video call summarization.</a:t>
            </a:r>
            <a:endParaRPr lang="en-US" sz="950" dirty="0"/>
          </a:p>
        </p:txBody>
      </p:sp>
      <p:sp>
        <p:nvSpPr>
          <p:cNvPr id="12" name="Text 8"/>
          <p:cNvSpPr/>
          <p:nvPr/>
        </p:nvSpPr>
        <p:spPr>
          <a:xfrm>
            <a:off x="4857750" y="3526501"/>
            <a:ext cx="3429000" cy="411435"/>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Optimizing model performance for Edge Devices using Quantization (GGUF/AWQ).</a:t>
            </a:r>
            <a:endParaRPr lang="en-US" sz="950" dirty="0"/>
          </a:p>
        </p:txBody>
      </p:sp>
      <p:sp>
        <p:nvSpPr>
          <p:cNvPr id="13" name="Text 9"/>
          <p:cNvSpPr/>
          <p:nvPr/>
        </p:nvSpPr>
        <p:spPr>
          <a:xfrm>
            <a:off x="4857750" y="4045093"/>
            <a:ext cx="2830181"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C3E50"/>
                </a:solidFill>
                <a:latin typeface="Work Sans" pitchFamily="34" charset="0"/>
                <a:ea typeface="Work Sans" pitchFamily="34" charset="-122"/>
                <a:cs typeface="Work Sans" pitchFamily="34" charset="-120"/>
              </a:rPr>
              <a:t>Integration with real-time enterprise data streams.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1000125" y="1627882"/>
            <a:ext cx="7143750" cy="525066"/>
          </a:xfrm>
          <a:prstGeom prst="rect">
            <a:avLst/>
          </a:prstGeom>
          <a:noFill/>
          <a:ln/>
        </p:spPr>
        <p:txBody>
          <a:bodyPr wrap="square" lIns="0" tIns="0" rIns="0" bIns="0" rtlCol="0" anchor="t">
            <a:spAutoFit/>
          </a:bodyPr>
          <a:lstStyle/>
          <a:p>
            <a:pPr marL="0" indent="0" algn="l">
              <a:buNone/>
            </a:pPr>
            <a:r>
              <a:rPr lang="en-US" sz="3300" b="1" dirty="0">
                <a:solidFill>
                  <a:srgbClr val="0F2537"/>
                </a:solidFill>
                <a:latin typeface="Playfair Display Bold" pitchFamily="34" charset="0"/>
                <a:ea typeface="Playfair Display Bold" pitchFamily="34" charset="-122"/>
                <a:cs typeface="Playfair Display Bold" pitchFamily="34" charset="-120"/>
              </a:rPr>
              <a:t>Thank You!</a:t>
            </a:r>
            <a:endParaRPr lang="en-US" sz="3300" dirty="0"/>
          </a:p>
        </p:txBody>
      </p:sp>
      <p:sp>
        <p:nvSpPr>
          <p:cNvPr id="6" name="Text 2"/>
          <p:cNvSpPr/>
          <p:nvPr/>
        </p:nvSpPr>
        <p:spPr>
          <a:xfrm>
            <a:off x="5809041" y="3351312"/>
            <a:ext cx="2334834" cy="164306"/>
          </a:xfrm>
          <a:prstGeom prst="rect">
            <a:avLst/>
          </a:prstGeom>
          <a:noFill/>
          <a:ln/>
        </p:spPr>
        <p:txBody>
          <a:bodyPr wrap="square" lIns="0" tIns="0" rIns="0" bIns="0" rtlCol="0" anchor="t">
            <a:spAutoFit/>
          </a:bodyPr>
          <a:lstStyle/>
          <a:p>
            <a:pPr marL="0" indent="0" algn="l">
              <a:buNone/>
            </a:pPr>
            <a:r>
              <a:rPr lang="en-US" sz="1050" dirty="0">
                <a:solidFill>
                  <a:srgbClr val="D96C06"/>
                </a:solidFill>
                <a:latin typeface="Work Sans" pitchFamily="34" charset="0"/>
                <a:ea typeface="Work Sans" pitchFamily="34" charset="-122"/>
                <a:cs typeface="Work Sans" pitchFamily="34" charset="-120"/>
              </a:rPr>
              <a:t>Moving Forward!!!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3A694-BDF1-257F-6295-34F2071F61E3}"/>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80A1CD5A-972B-6B08-0467-AF98B384C1C3}"/>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5741D876-63B8-A5B8-FA10-1315B0919819}"/>
              </a:ext>
            </a:extLst>
          </p:cNvPr>
          <p:cNvSpPr/>
          <p:nvPr/>
        </p:nvSpPr>
        <p:spPr>
          <a:xfrm>
            <a:off x="1000125" y="1627882"/>
            <a:ext cx="7143750" cy="525066"/>
          </a:xfrm>
          <a:prstGeom prst="rect">
            <a:avLst/>
          </a:prstGeom>
          <a:noFill/>
          <a:ln/>
        </p:spPr>
        <p:txBody>
          <a:bodyPr wrap="square" lIns="0" tIns="0" rIns="0" bIns="0" rtlCol="0" anchor="t">
            <a:spAutoFit/>
          </a:bodyPr>
          <a:lstStyle/>
          <a:p>
            <a:pPr marL="0" indent="0" algn="l">
              <a:buNone/>
            </a:pPr>
            <a:r>
              <a:rPr lang="en-US" sz="3300" b="1" dirty="0">
                <a:solidFill>
                  <a:srgbClr val="0F2537"/>
                </a:solidFill>
                <a:latin typeface="Playfair Display Bold" pitchFamily="34" charset="0"/>
                <a:ea typeface="Playfair Display Bold" pitchFamily="34" charset="-122"/>
                <a:cs typeface="Playfair Display Bold" pitchFamily="34" charset="-120"/>
              </a:rPr>
              <a:t>Q&amp;A</a:t>
            </a:r>
            <a:endParaRPr lang="en-US" sz="3300" dirty="0"/>
          </a:p>
        </p:txBody>
      </p:sp>
      <p:sp>
        <p:nvSpPr>
          <p:cNvPr id="5" name="Text 1">
            <a:extLst>
              <a:ext uri="{FF2B5EF4-FFF2-40B4-BE49-F238E27FC236}">
                <a16:creationId xmlns:a16="http://schemas.microsoft.com/office/drawing/2014/main" id="{ECC3474D-4BA2-2BFC-E7B3-D82F2CF19D11}"/>
              </a:ext>
            </a:extLst>
          </p:cNvPr>
          <p:cNvSpPr/>
          <p:nvPr/>
        </p:nvSpPr>
        <p:spPr>
          <a:xfrm>
            <a:off x="5729846" y="2660154"/>
            <a:ext cx="2414029" cy="262533"/>
          </a:xfrm>
          <a:prstGeom prst="rect">
            <a:avLst/>
          </a:prstGeom>
          <a:noFill/>
          <a:ln/>
        </p:spPr>
        <p:txBody>
          <a:bodyPr wrap="square" lIns="0" tIns="0" rIns="0" bIns="0" rtlCol="0" anchor="t">
            <a:spAutoFit/>
          </a:bodyPr>
          <a:lstStyle/>
          <a:p>
            <a:pPr marL="0" indent="0" algn="l">
              <a:buNone/>
            </a:pPr>
            <a:r>
              <a:rPr lang="en-US" sz="1700" dirty="0">
                <a:solidFill>
                  <a:srgbClr val="2C3E50"/>
                </a:solidFill>
                <a:latin typeface="Work Sans" pitchFamily="34" charset="0"/>
                <a:ea typeface="Work Sans" pitchFamily="34" charset="-122"/>
                <a:cs typeface="Work Sans" pitchFamily="34" charset="-120"/>
              </a:rPr>
              <a:t>Questions &amp; Discussion</a:t>
            </a:r>
            <a:endParaRPr lang="en-US" sz="1700" dirty="0"/>
          </a:p>
        </p:txBody>
      </p:sp>
      <p:sp>
        <p:nvSpPr>
          <p:cNvPr id="6" name="Text 2">
            <a:extLst>
              <a:ext uri="{FF2B5EF4-FFF2-40B4-BE49-F238E27FC236}">
                <a16:creationId xmlns:a16="http://schemas.microsoft.com/office/drawing/2014/main" id="{263EBDE4-B419-7339-543A-19B4260D25A0}"/>
              </a:ext>
            </a:extLst>
          </p:cNvPr>
          <p:cNvSpPr/>
          <p:nvPr/>
        </p:nvSpPr>
        <p:spPr>
          <a:xfrm>
            <a:off x="5809041" y="3351312"/>
            <a:ext cx="2334834" cy="164306"/>
          </a:xfrm>
          <a:prstGeom prst="rect">
            <a:avLst/>
          </a:prstGeom>
          <a:noFill/>
          <a:ln/>
        </p:spPr>
        <p:txBody>
          <a:bodyPr wrap="square" lIns="0" tIns="0" rIns="0" bIns="0" rtlCol="0" anchor="t">
            <a:spAutoFit/>
          </a:bodyPr>
          <a:lstStyle/>
          <a:p>
            <a:pPr marL="0" indent="0" algn="l">
              <a:buNone/>
            </a:pPr>
            <a:r>
              <a:rPr lang="en-US" sz="1050" dirty="0">
                <a:solidFill>
                  <a:srgbClr val="D96C06"/>
                </a:solidFill>
                <a:latin typeface="Work Sans" pitchFamily="34" charset="0"/>
                <a:ea typeface="Work Sans" pitchFamily="34" charset="-122"/>
                <a:cs typeface="Work Sans" pitchFamily="34" charset="-120"/>
              </a:rPr>
              <a:t>Thank you for your time and support.</a:t>
            </a:r>
            <a:endParaRPr lang="en-US" sz="1050" dirty="0"/>
          </a:p>
        </p:txBody>
      </p:sp>
    </p:spTree>
    <p:extLst>
      <p:ext uri="{BB962C8B-B14F-4D97-AF65-F5344CB8AC3E}">
        <p14:creationId xmlns:p14="http://schemas.microsoft.com/office/powerpoint/2010/main" val="325414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2037</Words>
  <Application>Microsoft Office PowerPoint</Application>
  <PresentationFormat>On-screen Show (16:9)</PresentationFormat>
  <Paragraphs>128</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Arial</vt:lpstr>
      <vt:lpstr>Calibri</vt:lpstr>
      <vt:lpstr>Playfair Display Bold</vt:lpstr>
      <vt:lpstr>Work Sans</vt:lpstr>
      <vt:lpstr>Work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Souparna Paul</cp:lastModifiedBy>
  <cp:revision>2</cp:revision>
  <dcterms:created xsi:type="dcterms:W3CDTF">2026-06-28T15:34:35Z</dcterms:created>
  <dcterms:modified xsi:type="dcterms:W3CDTF">2026-06-29T06:50:27Z</dcterms:modified>
</cp:coreProperties>
</file>