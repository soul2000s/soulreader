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5" r:id="rId4"/>
    <p:sldId id="268" r:id="rId5"/>
    <p:sldId id="269" r:id="rId6"/>
    <p:sldId id="271" r:id="rId7"/>
    <p:sldId id="273" r:id="rId8"/>
    <p:sldId id="270" r:id="rId9"/>
    <p:sldId id="261" r:id="rId10"/>
    <p:sldId id="262" r:id="rId11"/>
    <p:sldId id="263" r:id="rId12"/>
    <p:sldId id="264" r:id="rId13"/>
    <p:sldId id="27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 showGuides="1">
      <p:cViewPr varScale="1">
        <p:scale>
          <a:sx n="84" d="100"/>
          <a:sy n="84" d="100"/>
        </p:scale>
        <p:origin x="61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940F3-A265-5B25-ADFF-7661FB4474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F7E3E5-6661-1390-7442-575ED08667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FFFCB-FA04-0755-D8EC-393913D04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330A0-49A5-446A-B30B-26976655EA81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F5F8C1-4A0D-3B68-C125-5E3BAD0CA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267AA-34C0-828F-BD8F-DF39451B9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5DA41-3B70-40F3-9B56-A86294139C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4977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ECCE7-E982-A79D-A81E-2B4BCE420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D1C59-17BF-C6E2-0A03-CCC5FE511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E54A1-7A98-FA5C-D81A-8779C60B8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330A0-49A5-446A-B30B-26976655EA81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06ACA-B617-34C2-D199-A85010620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1B08F-D540-32D2-0D9A-084D95E85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5DA41-3B70-40F3-9B56-A86294139C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906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712BD-9356-3554-517A-D2DE7A853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6004C6-C0B8-D70B-C6A6-99D36307E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A89831-C2D1-AAC4-B64E-D1D2E7703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330A0-49A5-446A-B30B-26976655EA81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A9D20-6DB2-26D9-328D-580A19531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97FF5-34F7-8F30-8C98-0147CB006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5DA41-3B70-40F3-9B56-A86294139C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901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11FE8-6631-4706-BAAF-7C6FB7B43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039EB-B909-EEC9-5184-FA080B13C1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29CC35-A0A3-1653-1643-628D62C60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0CDAA3-B4BB-861D-98CD-2A8FB9043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330A0-49A5-446A-B30B-26976655EA81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7931CC-E6A9-CA77-B7E9-B814F98A1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22E13D-9748-45A5-675B-E102D23CD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5DA41-3B70-40F3-9B56-A86294139C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663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3450B-D824-2211-5637-5DB8AE3C4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EA024-36DA-40AF-29E5-649E97D34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952C23-F2D6-586A-5E59-9B0A75BF4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6B6591-569D-6CA5-DA5C-700568C7D9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22AC34-6F6B-C3F5-1ECE-EB7ADAA5EF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7106C0-A656-3971-7AF3-9E740C265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330A0-49A5-446A-B30B-26976655EA81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6B3ADD-D239-D2FC-EC6B-4FD45BA7C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DFDB88-DC5B-1555-8249-64D343B99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5DA41-3B70-40F3-9B56-A86294139C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4988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6956D-4DA0-C3A1-F34C-280F265D6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0A05A1-B2E6-0CC2-09B9-A991FFAF2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330A0-49A5-446A-B30B-26976655EA81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724CE0-0FB7-5CC9-5FC1-4D0B6DB9C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EB66D7-89B7-F8F5-C954-BC574114E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5DA41-3B70-40F3-9B56-A86294139C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844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63E66D-6F6D-8B5D-9B84-889BCC7E4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330A0-49A5-446A-B30B-26976655EA81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368BAF-0878-62B2-DD70-F8FC94C22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52D27E-12F0-BAD0-F65D-C58FF5B91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5DA41-3B70-40F3-9B56-A86294139C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5771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D7722-9238-E1CA-F579-C7ADDE91D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B451B-4E41-A935-DB1D-9B5F02FAC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32F5D0-8DB0-7F6D-7096-EE15B6BCA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2B398F-B6AB-1043-73BD-C3678EE86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330A0-49A5-446A-B30B-26976655EA81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0EC40A-1DD2-0B3C-9D2E-A45CB4D72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CBE8C5-570B-CF46-4C53-8F01DA1A9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5DA41-3B70-40F3-9B56-A86294139C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3205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65F5D-3D79-82D7-9C27-885DE7DB6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50E621-90FE-E581-EDDB-D0EFC905E2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E561F5-826B-8DE7-CF2C-7605998EA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58E906-5CE5-923A-5E9B-DE6B89804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330A0-49A5-446A-B30B-26976655EA81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37F1B7-1727-C563-CF38-F289BB276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71B29E-970B-A895-2043-1AD00A715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5DA41-3B70-40F3-9B56-A86294139C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5219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CCF59-7B31-F975-484B-991A4F7ED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9A5647-2E7B-4AF8-AC26-F6D10E11AA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02BD9-D881-B888-797B-68E7C68A3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330A0-49A5-446A-B30B-26976655EA81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BC18F-547E-AF79-9059-674250DAF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1A17F-A0E8-9F63-6CC6-7DED9998E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5DA41-3B70-40F3-9B56-A86294139C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0442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347736-716E-764C-8A14-47FE49310B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33D47A-6393-99BB-D6AC-0FA9E981B4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2A2E4-A780-563D-8238-E62B225E7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330A0-49A5-446A-B30B-26976655EA81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66F0C-C8E4-D6F9-EA4A-409EC2A1D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DAA96-E720-84DE-53A4-01F54AC7C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5DA41-3B70-40F3-9B56-A86294139C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899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2756-8CBF-361C-D60E-37435DB98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7C46C-0067-2B8A-7D06-E543D6D48C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2C2FCC-4562-886A-7183-74F021DCAF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7330A0-49A5-446A-B30B-26976655EA81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CE77C-702A-8021-006F-B869DF4827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34C7B-C0FE-DCB4-F86F-CBE03A82A2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5DA41-3B70-40F3-9B56-A86294139C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3247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eswarchandt/phishing-website-detector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7571" y="648834"/>
            <a:ext cx="10776857" cy="2387600"/>
          </a:xfrm>
        </p:spPr>
        <p:txBody>
          <a:bodyPr>
            <a:normAutofit/>
          </a:bodyPr>
          <a:lstStyle/>
          <a:p>
            <a:r>
              <a:rPr lang="en-US" b="1" dirty="0"/>
              <a:t>PHISHING URL DETECTION USING MACHINE LEARNING</a:t>
            </a:r>
            <a:endParaRPr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7520" y="3429000"/>
            <a:ext cx="11576957" cy="2387600"/>
          </a:xfrm>
        </p:spPr>
        <p:txBody>
          <a:bodyPr>
            <a:normAutofit fontScale="40000" lnSpcReduction="20000"/>
          </a:bodyPr>
          <a:lstStyle/>
          <a:p>
            <a:r>
              <a:rPr lang="en-IN" sz="5800" dirty="0"/>
              <a:t>Rishikesh, Sreetama Das, Chayan Ghosh, </a:t>
            </a:r>
            <a:r>
              <a:rPr lang="en-IN" sz="5800" dirty="0" err="1"/>
              <a:t>Souparna</a:t>
            </a:r>
            <a:r>
              <a:rPr lang="en-IN" sz="5800" dirty="0"/>
              <a:t> Paul</a:t>
            </a:r>
          </a:p>
          <a:p>
            <a:r>
              <a:rPr lang="en-US" sz="3500" dirty="0"/>
              <a:t>Under the Supervision of</a:t>
            </a:r>
          </a:p>
          <a:p>
            <a:r>
              <a:rPr lang="en-US" sz="3500" dirty="0"/>
              <a:t>Dr. Chandrima Chakrabarti</a:t>
            </a:r>
          </a:p>
          <a:p>
            <a:r>
              <a:rPr lang="en-US" sz="3500" dirty="0"/>
              <a:t>Associate Professor &amp; Head</a:t>
            </a:r>
          </a:p>
          <a:p>
            <a:r>
              <a:rPr lang="en-US" sz="3500" dirty="0"/>
              <a:t>Dept. of CSE Data Science</a:t>
            </a:r>
          </a:p>
          <a:p>
            <a:r>
              <a:rPr lang="en-US" sz="3500" b="1" dirty="0"/>
              <a:t>Narula Institute of Technology</a:t>
            </a:r>
          </a:p>
          <a:p>
            <a:endParaRPr lang="en-IN" dirty="0"/>
          </a:p>
          <a:p>
            <a:r>
              <a:rPr lang="en-IN" sz="6700" dirty="0"/>
              <a:t>14-05-2025</a:t>
            </a:r>
            <a:endParaRPr sz="6700" dirty="0"/>
          </a:p>
        </p:txBody>
      </p:sp>
      <p:sp>
        <p:nvSpPr>
          <p:cNvPr id="4" name="TextBox 3"/>
          <p:cNvSpPr txBox="1"/>
          <p:nvPr/>
        </p:nvSpPr>
        <p:spPr>
          <a:xfrm>
            <a:off x="1524000" y="6400800"/>
            <a:ext cx="214674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000">
                <a:solidFill>
                  <a:srgbClr val="646464"/>
                </a:solidFill>
              </a:defRPr>
            </a:pPr>
            <a:r>
              <a:rPr sz="1000"/>
              <a:t>RAICCIT 2025 | JIS University |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IN" b="1" dirty="0"/>
              <a:t>    </a:t>
            </a:r>
            <a:r>
              <a:rPr b="1" dirty="0"/>
              <a:t>Introduction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9BFABD-D445-70A5-4989-196D591AE4B8}"/>
              </a:ext>
            </a:extLst>
          </p:cNvPr>
          <p:cNvSpPr txBox="1"/>
          <p:nvPr/>
        </p:nvSpPr>
        <p:spPr>
          <a:xfrm>
            <a:off x="539263" y="1325563"/>
            <a:ext cx="1086938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Phishing attacks deceive users into sharing sensitive information via fake websites.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This project proposes a machine learning-based system to detect phishing URLs.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Traditional methods (e.g., blacklists) are ineffective against evolving phishing tactics.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proposed system offers automated, accurate, and scalable phishing detection.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It enhances cybersecurity by reducing manual effort and improving response time.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Can machine learning accurately classify URLs as phishing or legitimate?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Objective: Develop and evaluate ML models (e.g., Random Forest, </a:t>
            </a:r>
            <a:r>
              <a:rPr lang="en-US" sz="2000" dirty="0" err="1"/>
              <a:t>SVM</a:t>
            </a:r>
            <a:r>
              <a:rPr lang="en-US" sz="2000" dirty="0"/>
              <a:t>) for phishing URL detection and enable real-world deployment.</a:t>
            </a:r>
            <a:endParaRPr lang="en-IN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D64B5-CC68-D937-F206-A9A024E60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IN" b="1" dirty="0"/>
              <a:t>    Literature Review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2DBDAB8-F22A-ACB4-9F5C-6A23F6A6C7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677" y="1536173"/>
            <a:ext cx="1072242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Traditional methods like blacklists and heuristics are limited against zero-day phishing attacks.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(Body)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Machine learning models (e.g., Random Forest,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SVM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) offer better accuracy by learning URL patterns from data.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(Body)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Deep learning improves detection but requires heavy resources and lacks transparency.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(Body)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Gaps exist in real-time performance, scalability, and model interpretability.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(Body)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This project bridges the gap by combining efficient feature selection, robust ML models, and deployable architecture for real-world use.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2312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C6237-59ED-AF08-4CD1-6F6AC74A2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IN" b="1" dirty="0"/>
              <a:t>    Research Design and Methods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0771F38-E19D-0290-72FC-C080832271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4431" y="1325563"/>
            <a:ext cx="10352314" cy="41996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This project follows an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experimental research design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using machine learning techniques to detect phishing URLs.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labelled dataset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containing legitimate and phishing URLs is used for training and testing.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Data Collection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: URLs with extracted features (e.g., length, domain, special characters) were sourced from publicly available datasets.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Participants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: No human participants involved; the study uses existing datasets.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Materials &amp; Tools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Python with libraries like pandas, scikit-learn, and pickle.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Jupyter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Notebook for model development.</a:t>
            </a:r>
          </a:p>
        </p:txBody>
      </p:sp>
    </p:spTree>
    <p:extLst>
      <p:ext uri="{BB962C8B-B14F-4D97-AF65-F5344CB8AC3E}">
        <p14:creationId xmlns:p14="http://schemas.microsoft.com/office/powerpoint/2010/main" val="2952730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12F16-8D72-0249-095F-0FA3C9833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368" y="1228848"/>
            <a:ext cx="10455729" cy="4922437"/>
          </a:xfrm>
        </p:spPr>
        <p:txBody>
          <a:bodyPr>
            <a:no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Procedure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: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Data preprocessing and feature selection.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Training models like Random Forest and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SVM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Model evaluation using accuracy, precision, recall, and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F1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-score.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Saving and deploying the best model for real-time phishing detection.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(Body)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2000" b="1" kern="100" dirty="0">
                <a:solidFill>
                  <a:srgbClr val="000000"/>
                </a:solidFill>
                <a:effectLst/>
                <a:latin typeface="Calibri (Body)"/>
                <a:ea typeface="Times New Roman" panose="02020603050405020304" pitchFamily="18" charset="0"/>
                <a:cs typeface="Times New Roman" panose="02020603050405020304" pitchFamily="18" charset="0"/>
              </a:rPr>
              <a:t>Algorithm: Training and Deploying a Phishing URL Detection Model</a:t>
            </a:r>
            <a:endParaRPr lang="en-IN" sz="2000" kern="100" dirty="0">
              <a:effectLst/>
              <a:latin typeface="Calibri (Body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IN" sz="2000" kern="100" dirty="0">
                <a:solidFill>
                  <a:srgbClr val="000000"/>
                </a:solidFill>
                <a:effectLst/>
                <a:latin typeface="Calibri (Body)"/>
                <a:ea typeface="Times New Roman" panose="02020603050405020304" pitchFamily="18" charset="0"/>
                <a:cs typeface="Times New Roman" panose="02020603050405020304" pitchFamily="18" charset="0"/>
              </a:rPr>
              <a:t>	1. Start.</a:t>
            </a:r>
            <a:endParaRPr lang="en-IN" sz="2000" kern="100" dirty="0">
              <a:solidFill>
                <a:srgbClr val="000000"/>
              </a:solidFill>
              <a:effectLst/>
              <a:latin typeface="Calibri (Body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IN" sz="2000" kern="100" dirty="0">
                <a:solidFill>
                  <a:srgbClr val="000000"/>
                </a:solidFill>
                <a:effectLst/>
                <a:latin typeface="Calibri (Body)"/>
                <a:ea typeface="Times New Roman" panose="02020603050405020304" pitchFamily="18" charset="0"/>
                <a:cs typeface="Times New Roman" panose="02020603050405020304" pitchFamily="18" charset="0"/>
              </a:rPr>
              <a:t>	2. Import required libraries, including NumPy, pandas, </a:t>
            </a:r>
            <a:r>
              <a:rPr lang="en-IN" sz="2000" kern="100" dirty="0" err="1">
                <a:solidFill>
                  <a:srgbClr val="000000"/>
                </a:solidFill>
                <a:effectLst/>
                <a:latin typeface="Calibri (Body)"/>
                <a:ea typeface="Times New Roman" panose="02020603050405020304" pitchFamily="18" charset="0"/>
                <a:cs typeface="Times New Roman" panose="02020603050405020304" pitchFamily="18" charset="0"/>
              </a:rPr>
              <a:t>sklearn</a:t>
            </a:r>
            <a:r>
              <a:rPr lang="en-IN" sz="2000" kern="100" dirty="0">
                <a:solidFill>
                  <a:srgbClr val="000000"/>
                </a:solidFill>
                <a:effectLst/>
                <a:latin typeface="Calibri (Body)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sz="2000" kern="100" dirty="0" err="1">
                <a:solidFill>
                  <a:srgbClr val="000000"/>
                </a:solidFill>
                <a:effectLst/>
                <a:latin typeface="Calibri (Body)"/>
                <a:ea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r>
              <a:rPr lang="en-IN" sz="2000" kern="100" dirty="0">
                <a:solidFill>
                  <a:srgbClr val="000000"/>
                </a:solidFill>
                <a:effectLst/>
                <a:latin typeface="Calibri (Body)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kern="100" dirty="0" err="1">
                <a:solidFill>
                  <a:srgbClr val="000000"/>
                </a:solidFill>
                <a:effectLst/>
                <a:latin typeface="Calibri (Body)"/>
                <a:ea typeface="Times New Roman" panose="02020603050405020304" pitchFamily="18" charset="0"/>
                <a:cs typeface="Times New Roman" panose="02020603050405020304" pitchFamily="18" charset="0"/>
              </a:rPr>
              <a:t>train_test_split</a:t>
            </a:r>
            <a:r>
              <a:rPr lang="en-IN" sz="2000" kern="100" dirty="0">
                <a:solidFill>
                  <a:srgbClr val="000000"/>
                </a:solidFill>
                <a:effectLst/>
                <a:latin typeface="Calibri (Body)"/>
                <a:ea typeface="Times New Roman" panose="02020603050405020304" pitchFamily="18" charset="0"/>
                <a:cs typeface="Times New Roman" panose="02020603050405020304" pitchFamily="18" charset="0"/>
              </a:rPr>
              <a:t>, 	classifiers, </a:t>
            </a:r>
            <a:r>
              <a:rPr lang="en-IN" sz="2000" kern="100" dirty="0" err="1">
                <a:solidFill>
                  <a:srgbClr val="000000"/>
                </a:solidFill>
                <a:effectLst/>
                <a:latin typeface="Calibri (Body)"/>
                <a:ea typeface="Times New Roman" panose="02020603050405020304" pitchFamily="18" charset="0"/>
                <a:cs typeface="Times New Roman" panose="02020603050405020304" pitchFamily="18" charset="0"/>
              </a:rPr>
              <a:t>GridSearchCV</a:t>
            </a:r>
            <a:r>
              <a:rPr lang="en-IN" sz="2000" kern="100" dirty="0">
                <a:solidFill>
                  <a:srgbClr val="000000"/>
                </a:solidFill>
                <a:effectLst/>
                <a:latin typeface="Calibri (Body)"/>
                <a:ea typeface="Times New Roman" panose="02020603050405020304" pitchFamily="18" charset="0"/>
                <a:cs typeface="Times New Roman" panose="02020603050405020304" pitchFamily="18" charset="0"/>
              </a:rPr>
              <a:t>), and pickle.</a:t>
            </a:r>
            <a:endParaRPr lang="en-IN" sz="2000" kern="100" dirty="0">
              <a:solidFill>
                <a:srgbClr val="000000"/>
              </a:solidFill>
              <a:effectLst/>
              <a:latin typeface="Calibri (Body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IN" sz="2000" kern="100" dirty="0">
                <a:solidFill>
                  <a:srgbClr val="000000"/>
                </a:solidFill>
                <a:effectLst/>
                <a:latin typeface="Calibri (Body)"/>
                <a:ea typeface="Times New Roman" panose="02020603050405020304" pitchFamily="18" charset="0"/>
                <a:cs typeface="Times New Roman" panose="02020603050405020304" pitchFamily="18" charset="0"/>
              </a:rPr>
              <a:t>	3. Load the dataset containing URL features and labels (phishing or legitimate)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endParaRPr lang="en-IN" sz="2000" kern="100" dirty="0">
              <a:solidFill>
                <a:srgbClr val="000000"/>
              </a:solidFill>
              <a:effectLst/>
              <a:latin typeface="Calibri (Body)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182A10D-195D-4DDD-27C3-AB01BFA66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IN" b="1" dirty="0"/>
              <a:t>    Research Design and Methods</a:t>
            </a:r>
          </a:p>
        </p:txBody>
      </p:sp>
    </p:spTree>
    <p:extLst>
      <p:ext uri="{BB962C8B-B14F-4D97-AF65-F5344CB8AC3E}">
        <p14:creationId xmlns:p14="http://schemas.microsoft.com/office/powerpoint/2010/main" val="3915190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3DED1-5B48-5A58-16DA-01D510FDD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015" y="1147823"/>
            <a:ext cx="10515600" cy="5455200"/>
          </a:xfrm>
        </p:spPr>
        <p:txBody>
          <a:bodyPr>
            <a:no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IN" sz="2000" kern="100" dirty="0">
                <a:solidFill>
                  <a:srgbClr val="000000"/>
                </a:solidFill>
                <a:effectLst/>
                <a:latin typeface="Calibri (Body)"/>
                <a:ea typeface="Times New Roman" panose="02020603050405020304" pitchFamily="18" charset="0"/>
                <a:cs typeface="Times New Roman" panose="02020603050405020304" pitchFamily="18" charset="0"/>
              </a:rPr>
              <a:t>4. Preprocess the data by handling missing values, mapping target labels (phishing as 1 and legitimate as 0), and selecting significant features based on their correlation with the target variable.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IN" sz="2000" kern="100" dirty="0">
                <a:solidFill>
                  <a:srgbClr val="000000"/>
                </a:solidFill>
                <a:effectLst/>
                <a:latin typeface="Calibri (Body)"/>
                <a:ea typeface="Times New Roman" panose="02020603050405020304" pitchFamily="18" charset="0"/>
                <a:cs typeface="Times New Roman" panose="02020603050405020304" pitchFamily="18" charset="0"/>
              </a:rPr>
              <a:t>5. Split the dataset into training and testing sets and normalize features using </a:t>
            </a:r>
            <a:r>
              <a:rPr lang="en-IN" sz="2000" kern="100" dirty="0" err="1">
                <a:solidFill>
                  <a:srgbClr val="000000"/>
                </a:solidFill>
                <a:effectLst/>
                <a:latin typeface="Calibri (Body)"/>
                <a:ea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r>
              <a:rPr lang="en-IN" sz="2000" kern="100" dirty="0">
                <a:solidFill>
                  <a:srgbClr val="000000"/>
                </a:solidFill>
                <a:effectLst/>
                <a:latin typeface="Calibri (Body)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kern="100" dirty="0">
              <a:solidFill>
                <a:srgbClr val="000000"/>
              </a:solidFill>
              <a:effectLst/>
              <a:latin typeface="Calibri (Body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IN" sz="2000" kern="100" dirty="0">
                <a:solidFill>
                  <a:srgbClr val="000000"/>
                </a:solidFill>
                <a:effectLst/>
                <a:latin typeface="Calibri (Body)"/>
                <a:ea typeface="Times New Roman" panose="02020603050405020304" pitchFamily="18" charset="0"/>
                <a:cs typeface="Times New Roman" panose="02020603050405020304" pitchFamily="18" charset="0"/>
              </a:rPr>
              <a:t>6. Train machine learning models like Logistic Regression and Random Forest, and use </a:t>
            </a:r>
            <a:r>
              <a:rPr lang="en-IN" sz="2000" kern="100" dirty="0" err="1">
                <a:solidFill>
                  <a:srgbClr val="000000"/>
                </a:solidFill>
                <a:effectLst/>
                <a:latin typeface="Calibri (Body)"/>
                <a:ea typeface="Times New Roman" panose="02020603050405020304" pitchFamily="18" charset="0"/>
                <a:cs typeface="Times New Roman" panose="02020603050405020304" pitchFamily="18" charset="0"/>
              </a:rPr>
              <a:t>GridSearchCV</a:t>
            </a:r>
            <a:r>
              <a:rPr lang="en-IN" sz="2000" kern="100" dirty="0">
                <a:solidFill>
                  <a:srgbClr val="000000"/>
                </a:solidFill>
                <a:effectLst/>
                <a:latin typeface="Calibri (Body)"/>
                <a:ea typeface="Times New Roman" panose="02020603050405020304" pitchFamily="18" charset="0"/>
                <a:cs typeface="Times New Roman" panose="02020603050405020304" pitchFamily="18" charset="0"/>
              </a:rPr>
              <a:t> for hyperparameter tuning.</a:t>
            </a:r>
            <a:endParaRPr lang="en-IN" sz="2000" kern="100" dirty="0">
              <a:solidFill>
                <a:srgbClr val="000000"/>
              </a:solidFill>
              <a:effectLst/>
              <a:latin typeface="Calibri (Body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IN" sz="2000" kern="100" dirty="0">
                <a:solidFill>
                  <a:srgbClr val="000000"/>
                </a:solidFill>
                <a:effectLst/>
                <a:latin typeface="Calibri (Body)"/>
                <a:ea typeface="Times New Roman" panose="02020603050405020304" pitchFamily="18" charset="0"/>
                <a:cs typeface="Times New Roman" panose="02020603050405020304" pitchFamily="18" charset="0"/>
              </a:rPr>
              <a:t>7. Evaluate the trained models by making predictions on the test set, calculating metrics such as accuracy, precision, recall, and </a:t>
            </a:r>
            <a:r>
              <a:rPr lang="en-IN" sz="2000" kern="100" dirty="0" err="1">
                <a:solidFill>
                  <a:srgbClr val="000000"/>
                </a:solidFill>
                <a:effectLst/>
                <a:latin typeface="Calibri (Body)"/>
                <a:ea typeface="Times New Roman" panose="02020603050405020304" pitchFamily="18" charset="0"/>
                <a:cs typeface="Times New Roman" panose="02020603050405020304" pitchFamily="18" charset="0"/>
              </a:rPr>
              <a:t>F1</a:t>
            </a:r>
            <a:r>
              <a:rPr lang="en-IN" sz="2000" kern="100" dirty="0">
                <a:solidFill>
                  <a:srgbClr val="000000"/>
                </a:solidFill>
                <a:effectLst/>
                <a:latin typeface="Calibri (Body)"/>
                <a:ea typeface="Times New Roman" panose="02020603050405020304" pitchFamily="18" charset="0"/>
                <a:cs typeface="Times New Roman" panose="02020603050405020304" pitchFamily="18" charset="0"/>
              </a:rPr>
              <a:t> score, and selecting the best-performing model.</a:t>
            </a:r>
            <a:endParaRPr lang="en-IN" sz="2000" kern="100" dirty="0">
              <a:solidFill>
                <a:srgbClr val="000000"/>
              </a:solidFill>
              <a:effectLst/>
              <a:latin typeface="Calibri (Body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IN" sz="2000" kern="100" dirty="0">
                <a:solidFill>
                  <a:srgbClr val="000000"/>
                </a:solidFill>
                <a:effectLst/>
                <a:latin typeface="Calibri (Body)"/>
                <a:ea typeface="Times New Roman" panose="02020603050405020304" pitchFamily="18" charset="0"/>
                <a:cs typeface="Times New Roman" panose="02020603050405020304" pitchFamily="18" charset="0"/>
              </a:rPr>
              <a:t>8. Save the trained model and the feature scaler using pickle for deployment.</a:t>
            </a:r>
            <a:endParaRPr lang="en-IN" sz="2000" kern="100" dirty="0">
              <a:solidFill>
                <a:srgbClr val="000000"/>
              </a:solidFill>
              <a:effectLst/>
              <a:latin typeface="Calibri (Body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IN" sz="2000" kern="100" dirty="0">
                <a:solidFill>
                  <a:srgbClr val="000000"/>
                </a:solidFill>
                <a:effectLst/>
                <a:latin typeface="Calibri (Body)"/>
                <a:ea typeface="Times New Roman" panose="02020603050405020304" pitchFamily="18" charset="0"/>
                <a:cs typeface="Times New Roman" panose="02020603050405020304" pitchFamily="18" charset="0"/>
              </a:rPr>
              <a:t>9. Deploy the saved model in a web application to classify URLs as phishing or legitimate based on input features.</a:t>
            </a:r>
            <a:endParaRPr lang="en-IN" sz="2000" kern="100" dirty="0">
              <a:solidFill>
                <a:srgbClr val="000000"/>
              </a:solidFill>
              <a:effectLst/>
              <a:latin typeface="Calibri (Body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IN" sz="2000" kern="100" dirty="0">
                <a:solidFill>
                  <a:srgbClr val="000000"/>
                </a:solidFill>
                <a:effectLst/>
                <a:latin typeface="Calibri (Body)"/>
                <a:ea typeface="Times New Roman" panose="02020603050405020304" pitchFamily="18" charset="0"/>
                <a:cs typeface="Times New Roman" panose="02020603050405020304" pitchFamily="18" charset="0"/>
              </a:rPr>
              <a:t>10. Stop.</a:t>
            </a:r>
            <a:endParaRPr lang="en-IN" sz="2000" kern="100" dirty="0">
              <a:solidFill>
                <a:srgbClr val="000000"/>
              </a:solidFill>
              <a:effectLst/>
              <a:latin typeface="Calibri (Body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Calibri (Body)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37CCD70-0EB1-3B04-1991-823009619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IN" b="1" dirty="0"/>
              <a:t>    Research Design and Methods</a:t>
            </a:r>
          </a:p>
        </p:txBody>
      </p:sp>
    </p:spTree>
    <p:extLst>
      <p:ext uri="{BB962C8B-B14F-4D97-AF65-F5344CB8AC3E}">
        <p14:creationId xmlns:p14="http://schemas.microsoft.com/office/powerpoint/2010/main" val="3129388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F14AEAC-5A5A-30F2-BF2E-BE43A9B3F7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1985378"/>
              </p:ext>
            </p:extLst>
          </p:nvPr>
        </p:nvGraphicFramePr>
        <p:xfrm>
          <a:off x="838200" y="2874188"/>
          <a:ext cx="10515600" cy="277368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413281239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745833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8442235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8197863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000" b="1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Best Parameters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CV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Test 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8558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C=10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93.21%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93.84%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5261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n_estimators</a:t>
                      </a:r>
                      <a:r>
                        <a:rPr lang="en-IN" dirty="0"/>
                        <a:t>=200, </a:t>
                      </a:r>
                      <a:r>
                        <a:rPr lang="en-IN" dirty="0" err="1"/>
                        <a:t>max_depth</a:t>
                      </a:r>
                      <a:r>
                        <a:rPr lang="en-IN" dirty="0"/>
                        <a:t>=20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96.10%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96.12%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2076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Gradient Boosting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n_estimators=200, learning_rate=0.1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95.89%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95.87%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4742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SVM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C=10, kernel='rbf'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95.64%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96.22%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8468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KNN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n_neighbors</a:t>
                      </a:r>
                      <a:r>
                        <a:rPr lang="en-US" dirty="0"/>
                        <a:t>=3, p=1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95.10%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~95% (est.)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230013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BC3CDEDB-DB23-ACB1-5DAE-2468E96CA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IN" b="1" dirty="0"/>
              <a:t>    </a:t>
            </a:r>
            <a:r>
              <a:rPr b="1" dirty="0"/>
              <a:t>Results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EB10BD-7803-4E8F-D759-543317F98BDC}"/>
              </a:ext>
            </a:extLst>
          </p:cNvPr>
          <p:cNvSpPr txBox="1"/>
          <p:nvPr/>
        </p:nvSpPr>
        <p:spPr>
          <a:xfrm>
            <a:off x="838200" y="1673643"/>
            <a:ext cx="10515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The </a:t>
            </a:r>
            <a:r>
              <a:rPr lang="en-US" b="1" dirty="0"/>
              <a:t>summary table</a:t>
            </a:r>
            <a:r>
              <a:rPr lang="en-US" dirty="0"/>
              <a:t> provided gives a </a:t>
            </a:r>
            <a:r>
              <a:rPr lang="en-US" b="1" dirty="0"/>
              <a:t>concise comparison</a:t>
            </a:r>
            <a:r>
              <a:rPr lang="en-US" dirty="0"/>
              <a:t> of the performance and configuration of all the machine learning models used in your phishing URL detection project.</a:t>
            </a:r>
          </a:p>
          <a:p>
            <a:pPr algn="just"/>
            <a:r>
              <a:rPr lang="en-US" dirty="0"/>
              <a:t>Let’s break down each column in the table to understand it better: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0674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4A70914-588A-A08A-EEA9-BDECB5E6C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0" y="1690688"/>
            <a:ext cx="7903028" cy="4715679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B42D46C-3A5D-2C2E-6021-2B4E72B43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IN" b="1" dirty="0"/>
              <a:t>    </a:t>
            </a:r>
            <a:r>
              <a:rPr b="1" dirty="0"/>
              <a:t>Results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6D909F-894E-71AC-4AC0-6E270037B029}"/>
              </a:ext>
            </a:extLst>
          </p:cNvPr>
          <p:cNvSpPr txBox="1"/>
          <p:nvPr/>
        </p:nvSpPr>
        <p:spPr>
          <a:xfrm>
            <a:off x="3046640" y="6406367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Figure1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9975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IN" b="1" dirty="0"/>
              <a:t>    </a:t>
            </a:r>
            <a:r>
              <a:rPr b="1" dirty="0"/>
              <a:t>Results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7F68023-5523-7DA9-49C8-66AC95DDDB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6507" y="1094731"/>
            <a:ext cx="10253472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2000" b="1" kern="100" dirty="0">
                <a:effectLst/>
                <a:latin typeface="Calibri (Body)"/>
                <a:ea typeface="Calibri" panose="020F0502020204030204" pitchFamily="34" charset="0"/>
                <a:cs typeface="Times New Roman" panose="02020603050405020304" pitchFamily="18" charset="0"/>
              </a:rPr>
              <a:t>In </a:t>
            </a:r>
            <a:r>
              <a:rPr lang="en-IN" sz="2000" b="1" kern="100" dirty="0" err="1">
                <a:effectLst/>
                <a:latin typeface="Calibri (Body)"/>
                <a:ea typeface="Calibri" panose="020F0502020204030204" pitchFamily="34" charset="0"/>
                <a:cs typeface="Times New Roman" panose="02020603050405020304" pitchFamily="18" charset="0"/>
              </a:rPr>
              <a:t>Figure1</a:t>
            </a:r>
            <a:r>
              <a:rPr lang="en-IN" sz="2000" b="1" kern="100" dirty="0">
                <a:effectLst/>
                <a:latin typeface="Calibri (Body)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IN" sz="2000" kern="100" dirty="0">
                <a:effectLst/>
                <a:latin typeface="Calibri (Body)"/>
                <a:ea typeface="Calibri" panose="020F0502020204030204" pitchFamily="34" charset="0"/>
                <a:cs typeface="Times New Roman" panose="02020603050405020304" pitchFamily="18" charset="0"/>
              </a:rPr>
              <a:t>The bar chart titled "Best Cross-Validation Scores for Each Model" compares the performance of five machine learning models: Logistic Regression, Random Forest, Gradient Boosting, </a:t>
            </a:r>
            <a:r>
              <a:rPr lang="en-IN" sz="2000" kern="100" dirty="0" err="1">
                <a:effectLst/>
                <a:latin typeface="Calibri (Body)"/>
                <a:ea typeface="Calibri" panose="020F0502020204030204" pitchFamily="34" charset="0"/>
                <a:cs typeface="Times New Roman" panose="02020603050405020304" pitchFamily="18" charset="0"/>
              </a:rPr>
              <a:t>SVM</a:t>
            </a:r>
            <a:r>
              <a:rPr lang="en-IN" sz="2000" kern="100" dirty="0">
                <a:effectLst/>
                <a:latin typeface="Calibri (Body)"/>
                <a:ea typeface="Calibri" panose="020F0502020204030204" pitchFamily="34" charset="0"/>
                <a:cs typeface="Times New Roman" panose="02020603050405020304" pitchFamily="18" charset="0"/>
              </a:rPr>
              <a:t>, and KNN. The models were evaluated using cross-validation to assess their ability to generalize to unseen data.</a:t>
            </a:r>
            <a:r>
              <a:rPr lang="en-IN" sz="2000" kern="100" baseline="30000" dirty="0">
                <a:effectLst/>
                <a:latin typeface="Calibri (Body)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N" sz="2000" kern="100" baseline="30000" dirty="0">
              <a:latin typeface="Calibri (Body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2000" b="1" kern="100" dirty="0">
                <a:effectLst/>
                <a:latin typeface="Calibri (Body)"/>
                <a:ea typeface="Calibri" panose="020F0502020204030204" pitchFamily="34" charset="0"/>
                <a:cs typeface="Times New Roman" panose="02020603050405020304" pitchFamily="18" charset="0"/>
              </a:rPr>
              <a:t>Random Forest </a:t>
            </a:r>
            <a:r>
              <a:rPr lang="en-IN" sz="2000" kern="100" dirty="0">
                <a:effectLst/>
                <a:latin typeface="Calibri (Body)"/>
                <a:ea typeface="Calibri" panose="020F0502020204030204" pitchFamily="34" charset="0"/>
                <a:cs typeface="Times New Roman" panose="02020603050405020304" pitchFamily="18" charset="0"/>
              </a:rPr>
              <a:t>achieved the highest cross-validation score, suggesting it might be the most effective model for this dataset. Gradient Boosting and </a:t>
            </a:r>
            <a:r>
              <a:rPr lang="en-IN" sz="2000" kern="100" dirty="0" err="1">
                <a:effectLst/>
                <a:latin typeface="Calibri (Body)"/>
                <a:ea typeface="Calibri" panose="020F0502020204030204" pitchFamily="34" charset="0"/>
                <a:cs typeface="Times New Roman" panose="02020603050405020304" pitchFamily="18" charset="0"/>
              </a:rPr>
              <a:t>SVM</a:t>
            </a:r>
            <a:r>
              <a:rPr lang="en-IN" sz="2000" kern="100" dirty="0">
                <a:effectLst/>
                <a:latin typeface="Calibri (Body)"/>
                <a:ea typeface="Calibri" panose="020F0502020204030204" pitchFamily="34" charset="0"/>
                <a:cs typeface="Times New Roman" panose="02020603050405020304" pitchFamily="18" charset="0"/>
              </a:rPr>
              <a:t> also performed well, while Logistic Regression and KNN showed lower scores.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IN" sz="2000" kern="100" dirty="0">
              <a:effectLst/>
              <a:latin typeface="Calibri (Body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(Body)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751"/>
            <a:ext cx="10515600" cy="1325563"/>
          </a:xfrm>
        </p:spPr>
        <p:txBody>
          <a:bodyPr/>
          <a:lstStyle/>
          <a:p>
            <a:r>
              <a:rPr lang="en-IN" b="1" dirty="0"/>
              <a:t>    </a:t>
            </a:r>
            <a:r>
              <a:rPr b="1" dirty="0"/>
              <a:t>Discussion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15F7BD0-956D-666B-F9EA-BFC011F761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8160" y="1560027"/>
            <a:ext cx="9997440" cy="3737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The high accuracy of the model shows that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machine learning is effective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for phishing URL detection.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It can be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integrated into real-world tools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like browsers and email filters to improve cybersecurity.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The project’s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novelty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lies in combining strong feature selection with practical deployment using a web app.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It addresses gaps in earlier methods by being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scalable, real-time, and adaptable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to new phishing tactics.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IN" b="1" dirty="0"/>
              <a:t>    </a:t>
            </a:r>
            <a:r>
              <a:rPr b="1" dirty="0"/>
              <a:t>Conclusion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31EEA19-CF40-5825-8E5E-851C64C6F1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9261" y="1560027"/>
            <a:ext cx="9765323" cy="3737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The project successfully developed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machine learning-based phishing URL detector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with high accuracy.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It proves that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data-driven models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can outperform traditional methods in detecting phishing attacks.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With real-time detection and deployment potential, this system can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enhance cybersecurity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across platforms.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The research contributes to building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safer digital environments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by addressing modern phishing threats.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IN" b="1" dirty="0"/>
              <a:t>    </a:t>
            </a:r>
            <a:r>
              <a:rPr b="1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808" y="1325563"/>
            <a:ext cx="10515600" cy="4351338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sz="2000" dirty="0">
                <a:effectLst/>
                <a:latin typeface="Calibri (Body)"/>
                <a:ea typeface="Calibri" panose="020F0502020204030204" pitchFamily="34" charset="0"/>
              </a:rPr>
              <a:t>Eswar Chand, “Phishing Website Detector Dataset,” </a:t>
            </a:r>
            <a:r>
              <a:rPr lang="en-IN" sz="2000" i="1" dirty="0">
                <a:effectLst/>
                <a:latin typeface="Calibri (Body)"/>
                <a:ea typeface="Calibri" panose="020F0502020204030204" pitchFamily="34" charset="0"/>
              </a:rPr>
              <a:t>Kaggle</a:t>
            </a:r>
            <a:r>
              <a:rPr lang="en-IN" sz="2000" dirty="0">
                <a:effectLst/>
                <a:latin typeface="Calibri (Body)"/>
                <a:ea typeface="Calibri" panose="020F0502020204030204" pitchFamily="34" charset="0"/>
              </a:rPr>
              <a:t>, </a:t>
            </a:r>
            <a:r>
              <a:rPr lang="en-IN" sz="2000" u="sng" dirty="0">
                <a:solidFill>
                  <a:srgbClr val="0563C1"/>
                </a:solidFill>
                <a:effectLst/>
                <a:latin typeface="Calibri (Body)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</a:t>
            </a:r>
            <a:r>
              <a:rPr lang="en-IN" sz="2000" u="sng" dirty="0" err="1">
                <a:solidFill>
                  <a:srgbClr val="0563C1"/>
                </a:solidFill>
                <a:effectLst/>
                <a:latin typeface="Calibri (Body)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www.kaggle.com</a:t>
            </a:r>
            <a:r>
              <a:rPr lang="en-IN" sz="2000" u="sng" dirty="0">
                <a:solidFill>
                  <a:srgbClr val="0563C1"/>
                </a:solidFill>
                <a:effectLst/>
                <a:latin typeface="Calibri (Body)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/datasets/</a:t>
            </a:r>
            <a:r>
              <a:rPr lang="en-IN" sz="2000" u="sng" dirty="0" err="1">
                <a:solidFill>
                  <a:srgbClr val="0563C1"/>
                </a:solidFill>
                <a:effectLst/>
                <a:latin typeface="Calibri (Body)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eswarchandt</a:t>
            </a:r>
            <a:r>
              <a:rPr lang="en-IN" sz="2000" u="sng" dirty="0">
                <a:solidFill>
                  <a:srgbClr val="0563C1"/>
                </a:solidFill>
                <a:effectLst/>
                <a:latin typeface="Calibri (Body)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/phishing-website-detector</a:t>
            </a:r>
            <a:r>
              <a:rPr lang="en-IN" sz="2000" dirty="0">
                <a:effectLst/>
                <a:latin typeface="Calibri (Body)"/>
                <a:ea typeface="Calibri" panose="020F0502020204030204" pitchFamily="34" charset="0"/>
              </a:rPr>
              <a:t>, Accessed Dec. 2024.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000" kern="100" dirty="0">
                <a:effectLst/>
                <a:latin typeface="Calibri (Body)"/>
                <a:ea typeface="Calibri" panose="020F0502020204030204" pitchFamily="34" charset="0"/>
                <a:cs typeface="Times New Roman" panose="02020603050405020304" pitchFamily="18" charset="0"/>
              </a:rPr>
              <a:t>T. Kim, N. Park, J. Hong, and S. W. Kim, “Phishing URL detection: A network-based approach robust to evasion,” Proc. 2022 ACM </a:t>
            </a:r>
            <a:r>
              <a:rPr lang="en-US" sz="2000" kern="100" dirty="0" err="1">
                <a:effectLst/>
                <a:latin typeface="Calibri (Body)"/>
                <a:ea typeface="Calibri" panose="020F0502020204030204" pitchFamily="34" charset="0"/>
                <a:cs typeface="Times New Roman" panose="02020603050405020304" pitchFamily="18" charset="0"/>
              </a:rPr>
              <a:t>SIGSAC</a:t>
            </a:r>
            <a:r>
              <a:rPr lang="en-US" sz="2000" kern="100" dirty="0">
                <a:effectLst/>
                <a:latin typeface="Calibri (Body)"/>
                <a:ea typeface="Calibri" panose="020F0502020204030204" pitchFamily="34" charset="0"/>
                <a:cs typeface="Times New Roman" panose="02020603050405020304" pitchFamily="18" charset="0"/>
              </a:rPr>
              <a:t> Conf. </a:t>
            </a:r>
            <a:r>
              <a:rPr lang="en-US" sz="2000" kern="100" dirty="0" err="1">
                <a:effectLst/>
                <a:latin typeface="Calibri (Body)"/>
                <a:ea typeface="Calibri" panose="020F0502020204030204" pitchFamily="34" charset="0"/>
                <a:cs typeface="Times New Roman" panose="02020603050405020304" pitchFamily="18" charset="0"/>
              </a:rPr>
              <a:t>Comput</a:t>
            </a:r>
            <a:r>
              <a:rPr lang="en-US" sz="2000" kern="100" dirty="0">
                <a:effectLst/>
                <a:latin typeface="Calibri (Body)"/>
                <a:ea typeface="Calibri" panose="020F0502020204030204" pitchFamily="34" charset="0"/>
                <a:cs typeface="Times New Roman" panose="02020603050405020304" pitchFamily="18" charset="0"/>
              </a:rPr>
              <a:t>. Commun. </a:t>
            </a:r>
            <a:r>
              <a:rPr lang="en-US" sz="2000" kern="100" dirty="0" err="1">
                <a:effectLst/>
                <a:latin typeface="Calibri (Body)"/>
                <a:ea typeface="Calibri" panose="020F0502020204030204" pitchFamily="34" charset="0"/>
                <a:cs typeface="Times New Roman" panose="02020603050405020304" pitchFamily="18" charset="0"/>
              </a:rPr>
              <a:t>Secur</a:t>
            </a:r>
            <a:r>
              <a:rPr lang="en-US" sz="2000" kern="100" dirty="0">
                <a:effectLst/>
                <a:latin typeface="Calibri (Body)"/>
                <a:ea typeface="Calibri" panose="020F0502020204030204" pitchFamily="34" charset="0"/>
                <a:cs typeface="Times New Roman" panose="02020603050405020304" pitchFamily="18" charset="0"/>
              </a:rPr>
              <a:t>., pp. 1769-1782, Nov. </a:t>
            </a:r>
            <a:r>
              <a:rPr lang="en-US" sz="2000" kern="100" dirty="0" err="1">
                <a:effectLst/>
                <a:latin typeface="Calibri (Body)"/>
                <a:ea typeface="Calibri" panose="020F0502020204030204" pitchFamily="34" charset="0"/>
                <a:cs typeface="Times New Roman" panose="02020603050405020304" pitchFamily="18" charset="0"/>
              </a:rPr>
              <a:t>2022.R</a:t>
            </a:r>
            <a:r>
              <a:rPr lang="en-US" sz="2000" kern="100" dirty="0">
                <a:effectLst/>
                <a:latin typeface="Calibri (Body)"/>
                <a:ea typeface="Calibri" panose="020F0502020204030204" pitchFamily="34" charset="0"/>
                <a:cs typeface="Times New Roman" panose="02020603050405020304" pitchFamily="18" charset="0"/>
              </a:rPr>
              <a:t>. Solanki, “Principle of Data Mining,” McGraw-Hill Publication, India, pp. </a:t>
            </a:r>
            <a:r>
              <a:rPr lang="en-US" sz="2000" b="1" kern="100" dirty="0">
                <a:effectLst/>
                <a:latin typeface="Calibri (Body)"/>
                <a:ea typeface="Calibri" panose="020F0502020204030204" pitchFamily="34" charset="0"/>
                <a:cs typeface="Times New Roman" panose="02020603050405020304" pitchFamily="18" charset="0"/>
              </a:rPr>
              <a:t>386-398</a:t>
            </a:r>
            <a:r>
              <a:rPr lang="en-US" sz="2000" kern="100" dirty="0">
                <a:effectLst/>
                <a:latin typeface="Calibri (Body)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b="1" kern="100" dirty="0">
                <a:effectLst/>
                <a:latin typeface="Calibri (Body)"/>
                <a:ea typeface="Calibri" panose="020F0502020204030204" pitchFamily="34" charset="0"/>
                <a:cs typeface="Times New Roman" panose="02020603050405020304" pitchFamily="18" charset="0"/>
              </a:rPr>
              <a:t>1998</a:t>
            </a:r>
            <a:r>
              <a:rPr lang="en-US" sz="2000" kern="100" dirty="0">
                <a:effectLst/>
                <a:latin typeface="Calibri (Body)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IN" sz="2000" kern="100" dirty="0">
              <a:effectLst/>
              <a:latin typeface="Calibri (Body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000" kern="100" dirty="0">
                <a:effectLst/>
                <a:latin typeface="Calibri (Body)"/>
                <a:ea typeface="Calibri" panose="020F0502020204030204" pitchFamily="34" charset="0"/>
                <a:cs typeface="Times New Roman" panose="02020603050405020304" pitchFamily="18" charset="0"/>
              </a:rPr>
              <a:t>S. H. Ahammad, S. D. Kale, G. D. Upadhye, S. D. Pande, E. V. Babu, A. V. </a:t>
            </a:r>
            <a:r>
              <a:rPr lang="en-US" sz="2000" kern="100" dirty="0" err="1">
                <a:effectLst/>
                <a:latin typeface="Calibri (Body)"/>
                <a:ea typeface="Calibri" panose="020F0502020204030204" pitchFamily="34" charset="0"/>
                <a:cs typeface="Times New Roman" panose="02020603050405020304" pitchFamily="18" charset="0"/>
              </a:rPr>
              <a:t>Dhumane</a:t>
            </a:r>
            <a:r>
              <a:rPr lang="en-US" sz="2000" kern="100" dirty="0">
                <a:effectLst/>
                <a:latin typeface="Calibri (Body)"/>
                <a:ea typeface="Calibri" panose="020F0502020204030204" pitchFamily="34" charset="0"/>
                <a:cs typeface="Times New Roman" panose="02020603050405020304" pitchFamily="18" charset="0"/>
              </a:rPr>
              <a:t>, and M. D. K. J. Bahadur, “Phishing URL detection using machine learning methods,” Adv. Eng. </a:t>
            </a:r>
            <a:r>
              <a:rPr lang="en-US" sz="2000" kern="100" dirty="0" err="1">
                <a:effectLst/>
                <a:latin typeface="Calibri (Body)"/>
                <a:ea typeface="Calibri" panose="020F0502020204030204" pitchFamily="34" charset="0"/>
                <a:cs typeface="Times New Roman" panose="02020603050405020304" pitchFamily="18" charset="0"/>
              </a:rPr>
              <a:t>Softw</a:t>
            </a:r>
            <a:r>
              <a:rPr lang="en-US" sz="2000" kern="100" dirty="0">
                <a:effectLst/>
                <a:latin typeface="Calibri (Body)"/>
                <a:ea typeface="Calibri" panose="020F0502020204030204" pitchFamily="34" charset="0"/>
                <a:cs typeface="Times New Roman" panose="02020603050405020304" pitchFamily="18" charset="0"/>
              </a:rPr>
              <a:t>., vol. 173, p. 103288, 2022.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sz="2000" dirty="0">
                <a:effectLst/>
                <a:latin typeface="Calibri (Body)"/>
                <a:ea typeface="Calibri" panose="020F0502020204030204" pitchFamily="34" charset="0"/>
              </a:rPr>
              <a:t>Lee, J., Kim, M., and Park, H., "Phishing Detection Techniques and Their Effectiveness: A Comprehensive Survey," </a:t>
            </a:r>
            <a:r>
              <a:rPr lang="en-IN" sz="2000" i="1" dirty="0">
                <a:effectLst/>
                <a:latin typeface="Calibri (Body)"/>
                <a:ea typeface="Calibri" panose="020F0502020204030204" pitchFamily="34" charset="0"/>
              </a:rPr>
              <a:t>IEEE Transactions on Information Security</a:t>
            </a:r>
            <a:r>
              <a:rPr lang="en-IN" sz="2000" dirty="0">
                <a:effectLst/>
                <a:latin typeface="Calibri (Body)"/>
                <a:ea typeface="Calibri" panose="020F0502020204030204" pitchFamily="34" charset="0"/>
              </a:rPr>
              <a:t>, vol. 17, no. 2, pp. 87-98, Feb. 2023.</a:t>
            </a:r>
            <a:endParaRPr lang="en-IN" sz="2000" kern="100" dirty="0">
              <a:effectLst/>
              <a:latin typeface="Calibri (Body)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43496-AC67-B1AD-F714-B06086777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/>
              <a:t>THANK YOU</a:t>
            </a:r>
            <a:endParaRPr lang="en-IN" sz="5400" b="1" dirty="0"/>
          </a:p>
        </p:txBody>
      </p:sp>
    </p:spTree>
    <p:extLst>
      <p:ext uri="{BB962C8B-B14F-4D97-AF65-F5344CB8AC3E}">
        <p14:creationId xmlns:p14="http://schemas.microsoft.com/office/powerpoint/2010/main" val="856330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1167</Words>
  <Application>Microsoft Office PowerPoint</Application>
  <PresentationFormat>Widescreen</PresentationFormat>
  <Paragraphs>109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(Body)</vt:lpstr>
      <vt:lpstr>Calibri Light</vt:lpstr>
      <vt:lpstr>Office Theme</vt:lpstr>
      <vt:lpstr>PHISHING URL DETECTION USING MACHINE LEARNING</vt:lpstr>
      <vt:lpstr>    Introduction</vt:lpstr>
      <vt:lpstr>    Literature Review</vt:lpstr>
      <vt:lpstr>    Research Design and Methods</vt:lpstr>
      <vt:lpstr>    Research Design and Methods</vt:lpstr>
      <vt:lpstr>    Research Design and Methods</vt:lpstr>
      <vt:lpstr>    Results</vt:lpstr>
      <vt:lpstr>    Results</vt:lpstr>
      <vt:lpstr>    Results</vt:lpstr>
      <vt:lpstr>    Discussion</vt:lpstr>
      <vt:lpstr>    Conclusion</vt:lpstr>
      <vt:lpstr>    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RISHIKESH PANDIT</dc:creator>
  <cp:lastModifiedBy>RISHIKESH PANDIT</cp:lastModifiedBy>
  <cp:revision>5</cp:revision>
  <dcterms:created xsi:type="dcterms:W3CDTF">2025-04-11T05:27:54Z</dcterms:created>
  <dcterms:modified xsi:type="dcterms:W3CDTF">2025-05-14T05:10:57Z</dcterms:modified>
</cp:coreProperties>
</file>